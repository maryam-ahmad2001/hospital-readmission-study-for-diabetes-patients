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387" r:id="rId6"/>
    <p:sldId id="373" r:id="rId7"/>
    <p:sldId id="374" r:id="rId8"/>
    <p:sldId id="264" r:id="rId9"/>
    <p:sldId id="376" r:id="rId10"/>
    <p:sldId id="292" r:id="rId11"/>
    <p:sldId id="388" r:id="rId12"/>
    <p:sldId id="390" r:id="rId13"/>
    <p:sldId id="391" r:id="rId14"/>
    <p:sldId id="378" r:id="rId15"/>
    <p:sldId id="395" r:id="rId16"/>
    <p:sldId id="261" r:id="rId17"/>
    <p:sldId id="394" r:id="rId18"/>
    <p:sldId id="382" r:id="rId19"/>
    <p:sldId id="303" r:id="rId20"/>
    <p:sldId id="392" r:id="rId21"/>
    <p:sldId id="383" r:id="rId22"/>
    <p:sldId id="384" r:id="rId23"/>
    <p:sldId id="385" r:id="rId24"/>
    <p:sldId id="295" r:id="rId25"/>
    <p:sldId id="265" r:id="rId26"/>
    <p:sldId id="297" r:id="rId27"/>
    <p:sldId id="393" r:id="rId28"/>
    <p:sldId id="288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8" userDrawn="1">
          <p15:clr>
            <a:srgbClr val="A4A3A4"/>
          </p15:clr>
        </p15:guide>
        <p15:guide id="2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A5E"/>
    <a:srgbClr val="958577"/>
    <a:srgbClr val="F2F1EE"/>
    <a:srgbClr val="A5A5A5"/>
    <a:srgbClr val="BEB9AA"/>
    <a:srgbClr val="C0C9C2"/>
    <a:srgbClr val="AA9D92"/>
    <a:srgbClr val="D8D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3595" autoAdjust="0"/>
  </p:normalViewPr>
  <p:slideViewPr>
    <p:cSldViewPr snapToGrid="0">
      <p:cViewPr varScale="1">
        <p:scale>
          <a:sx n="131" d="100"/>
          <a:sy n="131" d="100"/>
        </p:scale>
        <p:origin x="400" y="184"/>
      </p:cViewPr>
      <p:guideLst>
        <p:guide pos="4128"/>
        <p:guide orient="horz" pos="960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6E6020-4209-49A3-9DC4-18264096E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97462-F1DD-4E64-BC14-F17A0F34B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2FC57-E1F8-4F59-A87C-2833007EAF57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5F0E3-AC70-4B5A-BCEB-9E3C021C8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F68B5-925F-4468-95B3-EA77C29C34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06BE-7519-4B21-9E1D-AE6D6E69C3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38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ACAC0-59EA-4916-9995-398D6BEB88C3}" type="datetimeFigureOut">
              <a:rPr lang="en-US" smtClean="0"/>
              <a:t>3/31/26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B2C62-FE30-453D-946B-754E9E42C8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32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spacing + Page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37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2964EA8-200F-47C5-90C2-1DBA3D6D7C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8700" y="5078187"/>
            <a:ext cx="3222058" cy="96462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878E298-5074-4E51-993E-34931A897F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D26D0E-18C6-4DB1-B3A5-75E29BD65B17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89B90B-5C3C-4760-9360-5AE10BF8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61D25CF-5413-4949-A54A-8716608406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58050" y="2000250"/>
            <a:ext cx="4667250" cy="339883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224E3A4F-8479-4D38-A6D4-85F0883F3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D4DA8-2D4A-4F06-BECA-044AF4113FB4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5A5341A-4863-40E8-8B9A-FB4E71925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2FED0-CD95-48B0-B54A-1F64F952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EF5E91-A275-4181-9C62-BC0773AD0512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71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23630CA-0A51-4B04-A57B-9E412A8FCD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C994AE8-9E30-418E-8361-5D851AFA42C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4E5783-2917-458E-BE61-F3D5AAA8F9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1D734B5-5F1C-4E34-81FF-AD75105E8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757DE8-43D6-4A47-ABC9-B39EC8016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5"/>
            <a:ext cx="3924300" cy="43910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84C97B0-0D42-4831-9ABD-390370C0F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1873-7D47-483D-BCB4-50DD9806C720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CE8438DF-723C-49AB-AD18-1C40F107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2FDE8-62A6-4290-88E6-2795313DE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85317C-3A2D-483F-B913-714129E19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DFEC7-1EEC-4FF2-868A-9799EA69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E394D08-059F-42CF-AB8C-ED21F3BF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F7B388-741A-4181-9A9E-D8FA8EC4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364FFEF-B933-46C6-A918-A80C987DB7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59E5EAF8-68C2-4910-8F66-D9320B957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3BE48E1-D3BE-4B52-B2EC-13A514CB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674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0815B22-13FE-47CD-9F79-73704A278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B74C9-B808-4394-A017-79C83B2524EF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7669539-CB64-44F5-999D-7B9E61F8A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BA076-F3B9-47CB-80C2-BE29F157D0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10499725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9627E-FE70-43A1-B0CB-4D4F6C32C2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41BF345D-81AF-4851-83A1-623398489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C4F3A57-45ED-498D-858C-3EE63DF129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1AC5BB09-E3BA-4948-93B3-EDCAAB8031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BF83C6B7-5484-4586-8830-098BDCD9C9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0C5663B1-EED6-4D80-A7C2-19E1366387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0">
            <a:extLst>
              <a:ext uri="{FF2B5EF4-FFF2-40B4-BE49-F238E27FC236}">
                <a16:creationId xmlns:a16="http://schemas.microsoft.com/office/drawing/2014/main" id="{D21E7B61-407B-40A7-9AF6-0D7E7106BC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415C3ACC-5A8A-46E6-BA0D-90ADD27E2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DF6D-B715-4785-8DEA-9165C638CF44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0D00A5C2-DCEE-4CB3-9307-61EB88B1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8CB70-B054-4294-AD29-EE7A75C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D608-4E7A-4014-9F62-CB43A0C839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C3A63B0-4EEA-45BC-A016-5FDA0969EA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080679B-5220-4478-B631-7112F870B7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E4F61A3-2797-46FB-ACA7-0443E3BBDD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4ED733B-1DE9-4FDC-BD5F-2BE3BB07C9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05858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275B11D-8F3F-472B-BBCC-A4F7415AC0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F0629D-1A5F-4F4F-90D6-430379624E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sz="1600">
                <a:solidFill>
                  <a:schemeClr val="tx2">
                    <a:lumMod val="50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Click to edit Master text styles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18C063B-0EE9-4FD5-A116-241C2454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E72A-09B6-4D56-855D-4360BD347914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417B369-6569-4DCC-B684-BE1A7C5D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EC1A7-43C3-481E-95D0-5616242E1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6CF0E0-8FF2-4FE7-AC69-85BEFA656508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337C3D7-7DDB-42A8-901A-EC153DD27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B95226-A076-4D55-B408-1389A2F8C7A0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6673F10-179D-4539-AA33-AE34EC0457EF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454152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B6CFC30-1A59-4D28-9E30-0FF7D632C6A2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805434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C4F3CC75-F9FA-4F77-9DD5-7E6C0F5C9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9D1A0-04AB-4DD4-B9DB-BDEC5E64C94C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3B5B65C-5DE0-4F81-8115-758CDB591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F4A2ACE-2D85-4F78-818F-BBA6F6F0C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DCD8D3-DF79-446E-9961-5797EE888B4C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CB4EDDC-C544-421C-905C-A4D40D98A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3EA80-260A-4EE9-83BB-E6DD04DEA906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9CBFDBF-2D2B-469A-9B2F-72F90474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A55D6-2810-4163-9D43-FEDA674E2D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E87E0B-D644-4037-B322-715C648BAD3B}"/>
              </a:ext>
            </a:extLst>
          </p:cNvPr>
          <p:cNvCxnSpPr>
            <a:cxnSpLocks/>
          </p:cNvCxnSpPr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19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940246AD-CE4F-4FD8-BCF6-5BA9ED62AC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F8ECBB79-D5D3-4ECE-99F9-1B6834629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C667C6DE-A3D4-4738-B7FC-43FB39FD7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2C18C04-19C8-4ECC-83E8-6E65128CE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0130" y="2009776"/>
            <a:ext cx="3924300" cy="28495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14E5D8-EB42-4C87-B4AE-4746909A2D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9813" y="5067300"/>
            <a:ext cx="3913187" cy="1319213"/>
          </a:xfrm>
        </p:spPr>
        <p:txBody>
          <a:bodyPr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649945F-7BBD-4042-AA34-709CE340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0274-DEF2-4F5D-8F74-69D0554CED55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1936C4A-DE5F-4BFE-AED0-47E48CD4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81B703-4F1F-41A6-AD71-3FFB2820F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77C8-AB8C-4B8A-A01F-113B16C4DCA3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9" r:id="rId8"/>
    <p:sldLayoutId id="2147483655" r:id="rId9"/>
    <p:sldLayoutId id="2147483656" r:id="rId10"/>
    <p:sldLayoutId id="2147483658" r:id="rId11"/>
    <p:sldLayoutId id="214748365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8" userDrawn="1">
          <p15:clr>
            <a:srgbClr val="F26B43"/>
          </p15:clr>
        </p15:guide>
        <p15:guide id="2" pos="1176" userDrawn="1">
          <p15:clr>
            <a:srgbClr val="F26B43"/>
          </p15:clr>
        </p15:guide>
        <p15:guide id="3" pos="1296" userDrawn="1">
          <p15:clr>
            <a:srgbClr val="F26B43"/>
          </p15:clr>
        </p15:guide>
        <p15:guide id="4" pos="1824" userDrawn="1">
          <p15:clr>
            <a:srgbClr val="F26B43"/>
          </p15:clr>
        </p15:guide>
        <p15:guide id="5" pos="1944" userDrawn="1">
          <p15:clr>
            <a:srgbClr val="F26B43"/>
          </p15:clr>
        </p15:guide>
        <p15:guide id="6" pos="2472" userDrawn="1">
          <p15:clr>
            <a:srgbClr val="F26B43"/>
          </p15:clr>
        </p15:guide>
        <p15:guide id="7" pos="2592" userDrawn="1">
          <p15:clr>
            <a:srgbClr val="F26B43"/>
          </p15:clr>
        </p15:guide>
        <p15:guide id="8" pos="3120" userDrawn="1">
          <p15:clr>
            <a:srgbClr val="F26B43"/>
          </p15:clr>
        </p15:guide>
        <p15:guide id="9" pos="3240" userDrawn="1">
          <p15:clr>
            <a:srgbClr val="F26B43"/>
          </p15:clr>
        </p15:guide>
        <p15:guide id="10" pos="3792" userDrawn="1">
          <p15:clr>
            <a:srgbClr val="F26B43"/>
          </p15:clr>
        </p15:guide>
        <p15:guide id="11" pos="3912" userDrawn="1">
          <p15:clr>
            <a:srgbClr val="F26B43"/>
          </p15:clr>
        </p15:guide>
        <p15:guide id="12" pos="4416" userDrawn="1">
          <p15:clr>
            <a:srgbClr val="F26B43"/>
          </p15:clr>
        </p15:guide>
        <p15:guide id="13" pos="4560" userDrawn="1">
          <p15:clr>
            <a:srgbClr val="F26B43"/>
          </p15:clr>
        </p15:guide>
        <p15:guide id="14" pos="5088" userDrawn="1">
          <p15:clr>
            <a:srgbClr val="F26B43"/>
          </p15:clr>
        </p15:guide>
        <p15:guide id="15" pos="5208" userDrawn="1">
          <p15:clr>
            <a:srgbClr val="F26B43"/>
          </p15:clr>
        </p15:guide>
        <p15:guide id="16" pos="5736" userDrawn="1">
          <p15:clr>
            <a:srgbClr val="F26B43"/>
          </p15:clr>
        </p15:guide>
        <p15:guide id="17" pos="5856" userDrawn="1">
          <p15:clr>
            <a:srgbClr val="F26B43"/>
          </p15:clr>
        </p15:guide>
        <p15:guide id="18" pos="6384" userDrawn="1">
          <p15:clr>
            <a:srgbClr val="F26B43"/>
          </p15:clr>
        </p15:guide>
        <p15:guide id="19" pos="6504" userDrawn="1">
          <p15:clr>
            <a:srgbClr val="F26B43"/>
          </p15:clr>
        </p15:guide>
        <p15:guide id="20" pos="7032" userDrawn="1">
          <p15:clr>
            <a:srgbClr val="F26B43"/>
          </p15:clr>
        </p15:guide>
        <p15:guide id="21" orient="horz" pos="288" userDrawn="1">
          <p15:clr>
            <a:srgbClr val="F26B43"/>
          </p15:clr>
        </p15:guide>
        <p15:guide id="22" orient="horz" pos="1128" userDrawn="1">
          <p15:clr>
            <a:srgbClr val="F26B43"/>
          </p15:clr>
        </p15:guide>
        <p15:guide id="23" orient="horz" pos="1248" userDrawn="1">
          <p15:clr>
            <a:srgbClr val="F26B43"/>
          </p15:clr>
        </p15:guide>
        <p15:guide id="24" orient="horz" pos="2088" userDrawn="1">
          <p15:clr>
            <a:srgbClr val="F26B43"/>
          </p15:clr>
        </p15:guide>
        <p15:guide id="25" orient="horz" pos="2232" userDrawn="1">
          <p15:clr>
            <a:srgbClr val="F26B43"/>
          </p15:clr>
        </p15:guide>
        <p15:guide id="26" orient="horz" pos="3048" userDrawn="1">
          <p15:clr>
            <a:srgbClr val="F26B43"/>
          </p15:clr>
        </p15:guide>
        <p15:guide id="27" orient="horz" pos="3192" userDrawn="1">
          <p15:clr>
            <a:srgbClr val="F26B43"/>
          </p15:clr>
        </p15:guide>
        <p15:guide id="28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png"/><Relationship Id="rId18" Type="http://schemas.openxmlformats.org/officeDocument/2006/relationships/image" Target="../media/image14.svg"/><Relationship Id="rId3" Type="http://schemas.openxmlformats.org/officeDocument/2006/relationships/slide" Target="slide6.xml"/><Relationship Id="rId21" Type="http://schemas.openxmlformats.org/officeDocument/2006/relationships/slide" Target="slide22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17" Type="http://schemas.openxmlformats.org/officeDocument/2006/relationships/image" Target="../media/image13.png"/><Relationship Id="rId2" Type="http://schemas.openxmlformats.org/officeDocument/2006/relationships/slide" Target="slide15.xml"/><Relationship Id="rId16" Type="http://schemas.openxmlformats.org/officeDocument/2006/relationships/image" Target="../media/image12.svg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image" Target="../media/image7.png"/><Relationship Id="rId24" Type="http://schemas.openxmlformats.org/officeDocument/2006/relationships/slide" Target="slide8.xml"/><Relationship Id="rId5" Type="http://schemas.openxmlformats.org/officeDocument/2006/relationships/slide" Target="slide20.xml"/><Relationship Id="rId15" Type="http://schemas.openxmlformats.org/officeDocument/2006/relationships/image" Target="../media/image11.png"/><Relationship Id="rId23" Type="http://schemas.openxmlformats.org/officeDocument/2006/relationships/image" Target="../media/image18.svg"/><Relationship Id="rId10" Type="http://schemas.openxmlformats.org/officeDocument/2006/relationships/image" Target="../media/image6.svg"/><Relationship Id="rId19" Type="http://schemas.openxmlformats.org/officeDocument/2006/relationships/image" Target="../media/image15.png"/><Relationship Id="rId4" Type="http://schemas.openxmlformats.org/officeDocument/2006/relationships/slide" Target="slide3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Relationship Id="rId22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argi-r-227b16190/" TargetMode="External"/><Relationship Id="rId2" Type="http://schemas.openxmlformats.org/officeDocument/2006/relationships/hyperlink" Target="https://www.linkedin.com/in/chintan-mehta-930b691a6/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linkedin.com/in/ved-barve-656794210/" TargetMode="External"/><Relationship Id="rId4" Type="http://schemas.openxmlformats.org/officeDocument/2006/relationships/hyperlink" Target="https://www.linkedin.com/in/maryam-ahmad-a9b44a198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7A48A35-E5E4-4A5F-9F91-BAEA4F5DF21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13079" y="4631636"/>
            <a:ext cx="4802671" cy="1586991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0C9C2">
                    <a:lumMod val="50000"/>
                  </a:srgbClr>
                </a:solidFill>
              </a:rPr>
              <a:t>Chintan, Gargi, Maryam and Ved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0C9C2">
                    <a:lumMod val="50000"/>
                  </a:srgbClr>
                </a:solidFill>
              </a:rPr>
              <a:t>Mentored by: Shubham Bhhatt</a:t>
            </a:r>
          </a:p>
          <a:p>
            <a:pPr>
              <a:lnSpc>
                <a:spcPct val="140000"/>
              </a:lnSpc>
            </a:pPr>
            <a:endParaRPr lang="en-US" sz="2000" dirty="0">
              <a:solidFill>
                <a:srgbClr val="C0C9C2">
                  <a:lumMod val="50000"/>
                </a:srgbClr>
              </a:solidFill>
            </a:endParaRPr>
          </a:p>
        </p:txBody>
      </p:sp>
      <p:sp>
        <p:nvSpPr>
          <p:cNvPr id="29" name="Slide Number Placeholder 6">
            <a:extLst>
              <a:ext uri="{FF2B5EF4-FFF2-40B4-BE49-F238E27FC236}">
                <a16:creationId xmlns:a16="http://schemas.microsoft.com/office/drawing/2014/main" id="{A53A5C9A-61E2-4118-A288-2967BEC2A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467C95-DF23-40B9-B265-2E6F3DE2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9627" y="248478"/>
            <a:ext cx="6867938" cy="4383158"/>
          </a:xfrm>
        </p:spPr>
        <p:txBody>
          <a:bodyPr anchor="ctr">
            <a:noAutofit/>
          </a:bodyPr>
          <a:lstStyle/>
          <a:p>
            <a:r>
              <a:rPr lang="en-US" sz="4500" dirty="0"/>
              <a:t>Hospital Readmission</a:t>
            </a:r>
          </a:p>
        </p:txBody>
      </p:sp>
      <p:pic>
        <p:nvPicPr>
          <p:cNvPr id="6" name="Picture 5" descr="A picture containing indoor&#10;&#10;Description automatically generated">
            <a:extLst>
              <a:ext uri="{FF2B5EF4-FFF2-40B4-BE49-F238E27FC236}">
                <a16:creationId xmlns:a16="http://schemas.microsoft.com/office/drawing/2014/main" id="{AB91D135-754C-4C98-AB1E-C28777AA2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8663"/>
            <a:ext cx="4802671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7B8964-3570-4DE9-AEDA-668B928AD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8DED75-BF92-4D9D-BB52-46B587D7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E2306C-0220-463E-946D-CD4655896126}"/>
              </a:ext>
            </a:extLst>
          </p:cNvPr>
          <p:cNvSpPr/>
          <p:nvPr/>
        </p:nvSpPr>
        <p:spPr>
          <a:xfrm>
            <a:off x="1061781" y="2354438"/>
            <a:ext cx="686386" cy="734735"/>
          </a:xfrm>
          <a:prstGeom prst="ellipse">
            <a:avLst/>
          </a:prstGeom>
          <a:solidFill>
            <a:srgbClr val="958577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DC168-1221-49F4-BDBE-363D337066D4}"/>
              </a:ext>
            </a:extLst>
          </p:cNvPr>
          <p:cNvSpPr txBox="1"/>
          <p:nvPr/>
        </p:nvSpPr>
        <p:spPr>
          <a:xfrm>
            <a:off x="965570" y="5583838"/>
            <a:ext cx="306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58577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PREDICTIVE MODELING</a:t>
            </a:r>
            <a:endParaRPr lang="en-IN" dirty="0">
              <a:solidFill>
                <a:srgbClr val="958577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406C3B-5C2E-4E5D-B372-FD867537DD62}"/>
              </a:ext>
            </a:extLst>
          </p:cNvPr>
          <p:cNvSpPr txBox="1"/>
          <p:nvPr/>
        </p:nvSpPr>
        <p:spPr>
          <a:xfrm>
            <a:off x="2801047" y="3366494"/>
            <a:ext cx="259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58577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MANAGEMENT</a:t>
            </a:r>
            <a:endParaRPr lang="en-IN" dirty="0">
              <a:solidFill>
                <a:srgbClr val="958577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D7303E-5FA2-487B-8742-01EC7E19317C}"/>
              </a:ext>
            </a:extLst>
          </p:cNvPr>
          <p:cNvSpPr txBox="1"/>
          <p:nvPr/>
        </p:nvSpPr>
        <p:spPr>
          <a:xfrm>
            <a:off x="361987" y="3325975"/>
            <a:ext cx="208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58577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OBJECTIVES</a:t>
            </a:r>
            <a:endParaRPr lang="en-IN" dirty="0">
              <a:solidFill>
                <a:srgbClr val="958577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828B5B-C2D2-48F8-938C-242CE5689899}"/>
              </a:ext>
            </a:extLst>
          </p:cNvPr>
          <p:cNvSpPr txBox="1"/>
          <p:nvPr/>
        </p:nvSpPr>
        <p:spPr>
          <a:xfrm>
            <a:off x="4744945" y="5583838"/>
            <a:ext cx="208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58577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</a:t>
            </a:r>
            <a:endParaRPr lang="en-IN" dirty="0">
              <a:solidFill>
                <a:srgbClr val="958577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0A6E72-FBAD-4F8B-BD4B-1A6BC9BA2070}"/>
              </a:ext>
            </a:extLst>
          </p:cNvPr>
          <p:cNvSpPr txBox="1"/>
          <p:nvPr/>
        </p:nvSpPr>
        <p:spPr>
          <a:xfrm>
            <a:off x="9183025" y="330856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58577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VISUALIZATION</a:t>
            </a:r>
            <a:endParaRPr lang="en-IN" dirty="0">
              <a:solidFill>
                <a:srgbClr val="958577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D544C2-D9C8-4E56-8AFA-C4CF48176ED9}"/>
              </a:ext>
            </a:extLst>
          </p:cNvPr>
          <p:cNvSpPr/>
          <p:nvPr/>
        </p:nvSpPr>
        <p:spPr>
          <a:xfrm>
            <a:off x="2155902" y="4612981"/>
            <a:ext cx="686386" cy="734735"/>
          </a:xfrm>
          <a:prstGeom prst="ellipse">
            <a:avLst/>
          </a:prstGeom>
          <a:solidFill>
            <a:srgbClr val="958577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A1AC30-2C77-414C-941F-C87D197FD645}"/>
              </a:ext>
            </a:extLst>
          </p:cNvPr>
          <p:cNvSpPr/>
          <p:nvPr/>
        </p:nvSpPr>
        <p:spPr>
          <a:xfrm>
            <a:off x="10188605" y="2391978"/>
            <a:ext cx="686386" cy="734735"/>
          </a:xfrm>
          <a:prstGeom prst="ellipse">
            <a:avLst/>
          </a:prstGeom>
          <a:solidFill>
            <a:srgbClr val="958577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3D29C25-516C-4C56-8514-74F62E5E5C85}"/>
              </a:ext>
            </a:extLst>
          </p:cNvPr>
          <p:cNvSpPr/>
          <p:nvPr/>
        </p:nvSpPr>
        <p:spPr>
          <a:xfrm>
            <a:off x="3849340" y="2391978"/>
            <a:ext cx="686386" cy="734735"/>
          </a:xfrm>
          <a:prstGeom prst="ellipse">
            <a:avLst/>
          </a:prstGeom>
          <a:solidFill>
            <a:srgbClr val="958577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1B7D417-50AE-446D-A595-AC886B76E86C}"/>
              </a:ext>
            </a:extLst>
          </p:cNvPr>
          <p:cNvSpPr/>
          <p:nvPr/>
        </p:nvSpPr>
        <p:spPr>
          <a:xfrm>
            <a:off x="5444739" y="4616741"/>
            <a:ext cx="686386" cy="734735"/>
          </a:xfrm>
          <a:prstGeom prst="ellipse">
            <a:avLst/>
          </a:prstGeom>
          <a:solidFill>
            <a:srgbClr val="958577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9BC49BB-E5D8-4E96-9C14-DB00A8369F97}"/>
              </a:ext>
            </a:extLst>
          </p:cNvPr>
          <p:cNvSpPr/>
          <p:nvPr/>
        </p:nvSpPr>
        <p:spPr>
          <a:xfrm>
            <a:off x="6936297" y="2365686"/>
            <a:ext cx="686386" cy="734735"/>
          </a:xfrm>
          <a:prstGeom prst="ellipse">
            <a:avLst/>
          </a:prstGeom>
          <a:solidFill>
            <a:srgbClr val="958577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30" name="Graphic 29" descr="Presentation with bar chart outline">
            <a:extLst>
              <a:ext uri="{FF2B5EF4-FFF2-40B4-BE49-F238E27FC236}">
                <a16:creationId xmlns:a16="http://schemas.microsoft.com/office/drawing/2014/main" id="{CE2FFFE9-9459-4FF7-B282-466FD98BC5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9835" y="2432245"/>
            <a:ext cx="663926" cy="663926"/>
          </a:xfrm>
          <a:prstGeom prst="rect">
            <a:avLst/>
          </a:prstGeom>
        </p:spPr>
      </p:pic>
      <p:sp>
        <p:nvSpPr>
          <p:cNvPr id="31" name="Rectangle 30" descr="Gears">
            <a:extLst>
              <a:ext uri="{FF2B5EF4-FFF2-40B4-BE49-F238E27FC236}">
                <a16:creationId xmlns:a16="http://schemas.microsoft.com/office/drawing/2014/main" id="{2612B61C-F987-46FF-9737-A413E7D97C1D}"/>
              </a:ext>
            </a:extLst>
          </p:cNvPr>
          <p:cNvSpPr/>
          <p:nvPr/>
        </p:nvSpPr>
        <p:spPr>
          <a:xfrm>
            <a:off x="6987750" y="2503434"/>
            <a:ext cx="583480" cy="472208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pic>
        <p:nvPicPr>
          <p:cNvPr id="35" name="Graphic 34" descr="Clipboard Mixed outline">
            <a:extLst>
              <a:ext uri="{FF2B5EF4-FFF2-40B4-BE49-F238E27FC236}">
                <a16:creationId xmlns:a16="http://schemas.microsoft.com/office/drawing/2014/main" id="{BCB6CF01-B05F-4D2F-A37C-9EA784E49D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33592" y="4726008"/>
            <a:ext cx="508679" cy="508679"/>
          </a:xfrm>
          <a:prstGeom prst="rect">
            <a:avLst/>
          </a:prstGeom>
        </p:spPr>
      </p:pic>
      <p:pic>
        <p:nvPicPr>
          <p:cNvPr id="37" name="Graphic 36" descr="Wrench with solid fill">
            <a:extLst>
              <a:ext uri="{FF2B5EF4-FFF2-40B4-BE49-F238E27FC236}">
                <a16:creationId xmlns:a16="http://schemas.microsoft.com/office/drawing/2014/main" id="{B0E12110-C9D1-4CDB-BC3B-9591AC08F0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26178" y="2467625"/>
            <a:ext cx="532710" cy="532710"/>
          </a:xfrm>
          <a:prstGeom prst="rect">
            <a:avLst/>
          </a:prstGeom>
        </p:spPr>
      </p:pic>
      <p:sp>
        <p:nvSpPr>
          <p:cNvPr id="38" name="Rectangle 37" descr="Head with Gears">
            <a:extLst>
              <a:ext uri="{FF2B5EF4-FFF2-40B4-BE49-F238E27FC236}">
                <a16:creationId xmlns:a16="http://schemas.microsoft.com/office/drawing/2014/main" id="{C019F1F6-1882-48A2-8F2D-2414FA54F73E}"/>
              </a:ext>
            </a:extLst>
          </p:cNvPr>
          <p:cNvSpPr/>
          <p:nvPr/>
        </p:nvSpPr>
        <p:spPr>
          <a:xfrm>
            <a:off x="2280152" y="4722733"/>
            <a:ext cx="437885" cy="515228"/>
          </a:xfrm>
          <a:prstGeom prst="rect">
            <a:avLst/>
          </a:prstGeom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40" name="Graphic 39" descr="An organic corner shape">
            <a:extLst>
              <a:ext uri="{FF2B5EF4-FFF2-40B4-BE49-F238E27FC236}">
                <a16:creationId xmlns:a16="http://schemas.microsoft.com/office/drawing/2014/main" id="{6B8E9A7E-FF71-44A1-863B-7D089EF7F0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-6223"/>
            <a:ext cx="4744945" cy="2968372"/>
          </a:xfrm>
          <a:prstGeom prst="rect">
            <a:avLst/>
          </a:prstGeom>
        </p:spPr>
      </p:pic>
      <p:pic>
        <p:nvPicPr>
          <p:cNvPr id="42" name="Graphic 41" descr="Books outline">
            <a:extLst>
              <a:ext uri="{FF2B5EF4-FFF2-40B4-BE49-F238E27FC236}">
                <a16:creationId xmlns:a16="http://schemas.microsoft.com/office/drawing/2014/main" id="{EE719DFF-4E46-4C4C-BF12-22E41317E93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10605" y="2418864"/>
            <a:ext cx="607200" cy="6072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7F48E5B-A579-4D3B-BEEE-99D95C58A745}"/>
              </a:ext>
            </a:extLst>
          </p:cNvPr>
          <p:cNvSpPr txBox="1"/>
          <p:nvPr/>
        </p:nvSpPr>
        <p:spPr>
          <a:xfrm>
            <a:off x="8113860" y="5585268"/>
            <a:ext cx="208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58577"/>
                </a:solidFill>
                <a:hlinkClick r:id="rId2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ANALYSIS</a:t>
            </a:r>
            <a:endParaRPr lang="en-IN" dirty="0">
              <a:solidFill>
                <a:srgbClr val="958577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284F936-47E7-40CA-AA15-33A0AC653791}"/>
              </a:ext>
            </a:extLst>
          </p:cNvPr>
          <p:cNvSpPr/>
          <p:nvPr/>
        </p:nvSpPr>
        <p:spPr>
          <a:xfrm>
            <a:off x="8813654" y="4618171"/>
            <a:ext cx="686386" cy="734735"/>
          </a:xfrm>
          <a:prstGeom prst="ellipse">
            <a:avLst/>
          </a:prstGeom>
          <a:solidFill>
            <a:srgbClr val="958577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50" name="Graphic 49" descr="Research outline">
            <a:extLst>
              <a:ext uri="{FF2B5EF4-FFF2-40B4-BE49-F238E27FC236}">
                <a16:creationId xmlns:a16="http://schemas.microsoft.com/office/drawing/2014/main" id="{DC8AD13E-6B1F-48A7-AE5C-32402363D8B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875584" y="4700514"/>
            <a:ext cx="562526" cy="562526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8D4C342-F177-4106-92EC-39435A14397C}"/>
              </a:ext>
            </a:extLst>
          </p:cNvPr>
          <p:cNvSpPr txBox="1"/>
          <p:nvPr/>
        </p:nvSpPr>
        <p:spPr>
          <a:xfrm>
            <a:off x="5745965" y="3318081"/>
            <a:ext cx="306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958577"/>
                </a:solidFill>
                <a:hlinkClick r:id="rId2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FEATURE ENGINEERING</a:t>
            </a:r>
            <a:endParaRPr lang="en-IN" dirty="0">
              <a:solidFill>
                <a:srgbClr val="9585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355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590204-C30A-42BC-AD33-436F6088EE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3338" y="2423950"/>
            <a:ext cx="6214275" cy="265747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IN" dirty="0"/>
              <a:t>To suggest optimal models to predict Diabetic patients’ readmission.</a:t>
            </a:r>
          </a:p>
          <a:p>
            <a:pPr marL="457200" indent="-457200">
              <a:buAutoNum type="arabicPeriod"/>
            </a:pPr>
            <a:r>
              <a:rPr lang="en-IN" dirty="0"/>
              <a:t>To uncover the underlying reasons behind the readmissions of diabetic patients and suggest ways to overcome them.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26559-8601-4BF5-9D98-BF1E700DE61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09D4DA8-2D4A-4F06-BECA-044AF4113FB4}" type="datetime1">
              <a:rPr lang="en-US" smtClean="0"/>
              <a:t>3/31/26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6083D-1C41-46FE-8B99-57A0F3632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E9DA51-CDAA-4D2F-9E71-F92154EE6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513" y="796346"/>
            <a:ext cx="4019436" cy="1232479"/>
          </a:xfrm>
        </p:spPr>
        <p:txBody>
          <a:bodyPr>
            <a:normAutofit/>
          </a:bodyPr>
          <a:lstStyle/>
          <a:p>
            <a:r>
              <a:rPr lang="en-IN" sz="4500" dirty="0"/>
              <a:t>Objectives</a:t>
            </a:r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73EC01F9-8F8C-47E3-AF90-18A7C9D79640}"/>
              </a:ext>
            </a:extLst>
          </p:cNvPr>
          <p:cNvSpPr/>
          <p:nvPr/>
        </p:nvSpPr>
        <p:spPr>
          <a:xfrm flipV="1">
            <a:off x="0" y="-28119"/>
            <a:ext cx="4129087" cy="6880225"/>
          </a:xfrm>
          <a:prstGeom prst="rtTriangle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879408-9713-4E47-BF19-C085AAD857A3}"/>
              </a:ext>
            </a:extLst>
          </p:cNvPr>
          <p:cNvSpPr/>
          <p:nvPr/>
        </p:nvSpPr>
        <p:spPr>
          <a:xfrm rot="1861866">
            <a:off x="1916233" y="-939970"/>
            <a:ext cx="1243127" cy="8703924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23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6DF314-8C1B-4E92-8C08-78C584ADE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30F05-C4BA-4965-9C00-642813648B6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54074" y="1637172"/>
            <a:ext cx="10499726" cy="484981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Data Mining: </a:t>
            </a:r>
            <a:r>
              <a:rPr lang="en-US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Extraction and simplification of large complex datasets to gain relevant insights and pattern recognition.</a:t>
            </a:r>
            <a:endParaRPr lang="en-US" sz="1800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Machine Learning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KNN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Logistic Regression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Decision Tree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Random Forest</a:t>
            </a:r>
            <a:endParaRPr lang="en-US" sz="16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2F248E-A7DB-4DB0-97BE-A27C99E7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Concepts and Domains used</a:t>
            </a:r>
          </a:p>
        </p:txBody>
      </p:sp>
    </p:spTree>
    <p:extLst>
      <p:ext uri="{BB962C8B-B14F-4D97-AF65-F5344CB8AC3E}">
        <p14:creationId xmlns:p14="http://schemas.microsoft.com/office/powerpoint/2010/main" val="33151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396ACA8-645A-482F-8A09-64B265C7E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40744" y="2452521"/>
            <a:ext cx="0" cy="849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DBC95F7-F91F-4C15-B901-F5B9A0212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400929" y="2392942"/>
            <a:ext cx="0" cy="2651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1EB85F4-14BA-48A6-9D31-FB54B9A73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492332" y="2407225"/>
            <a:ext cx="0" cy="849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EF6EBB-E0D5-40FF-B673-735E51BF1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75136" y="2445582"/>
            <a:ext cx="0" cy="849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2591133-9293-4E91-9A56-52DA274D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14951" y="2392942"/>
            <a:ext cx="0" cy="2651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48653BE-3CA3-40E2-BA08-3F5B9CFD1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32146" y="2360865"/>
            <a:ext cx="0" cy="2651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AC276BE-C7F9-4975-97BD-BB292BB8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3319" y="2321127"/>
            <a:ext cx="0" cy="981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E600A4E-D68C-422C-962B-EF9BDE061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766538" y="2461482"/>
            <a:ext cx="0" cy="2651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5D9D468-2955-4F34-B261-571A2B2FB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6350" y="2457279"/>
            <a:ext cx="0" cy="849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D0B6389-2374-4677-B8BB-59410CCC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56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Factors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70C08F9-9A5C-43CF-9AAC-621536803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13202" y="2329115"/>
            <a:ext cx="0" cy="1005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BA89E8D-ECBE-4B32-82C7-E8DD0B202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49342" y="2392942"/>
            <a:ext cx="0" cy="2651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8E48653-A8EB-4DE2-BFE6-A0E61D873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83734" y="2445582"/>
            <a:ext cx="0" cy="2651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90DF0B-5B2E-49A9-B210-E32FFFAC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58" idx="3"/>
          </p:cNvCxnSpPr>
          <p:nvPr/>
        </p:nvCxnSpPr>
        <p:spPr>
          <a:xfrm>
            <a:off x="708431" y="2379885"/>
            <a:ext cx="11161464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81E53639-8872-4E58-9A2D-8001BB854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75" y="2077808"/>
            <a:ext cx="604157" cy="6041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1632FE-1D0A-41E4-BF25-F0F7AA952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4461" y="2077808"/>
            <a:ext cx="604157" cy="60415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586E56F-86DF-43E4-85F3-DD6AA1CF8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873" y="2077808"/>
            <a:ext cx="604157" cy="6041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BE9657-CF02-4369-A33E-0B3687100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21471" y="2077808"/>
            <a:ext cx="604157" cy="6041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A9922DC-4CA9-4B40-A5D5-72BBFAE6A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30069" y="2077808"/>
            <a:ext cx="604157" cy="60415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27F60B2-65D3-4950-9103-3EFDF7F7D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8667" y="2077808"/>
            <a:ext cx="604157" cy="60415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1CD723-7F96-4567-92C6-62CCB0855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7265" y="2077808"/>
            <a:ext cx="604157" cy="60415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D641E32-C3C9-4F0F-A366-D6AF93DD9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55863" y="2077807"/>
            <a:ext cx="604157" cy="60415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EBF65AA-A09B-4D00-8027-CC0A25E8C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3059" y="2077808"/>
            <a:ext cx="604157" cy="60415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07F39A3-7EA6-4379-9663-6D559F439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1657" y="2077808"/>
            <a:ext cx="604157" cy="60415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E1B2E89-57B9-4D7A-8428-5CD76566C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90255" y="2077808"/>
            <a:ext cx="604157" cy="60415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419E70-E8A3-4D0F-B3B6-B2E3C5F05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98855" y="2077808"/>
            <a:ext cx="604157" cy="60415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1A8A05-09CF-4FED-814A-C13B5ADAD0D0}"/>
              </a:ext>
            </a:extLst>
          </p:cNvPr>
          <p:cNvSpPr txBox="1"/>
          <p:nvPr/>
        </p:nvSpPr>
        <p:spPr>
          <a:xfrm>
            <a:off x="104272" y="2210608"/>
            <a:ext cx="604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462F79-38EC-4B6D-A17B-F5010967D4B4}"/>
              </a:ext>
            </a:extLst>
          </p:cNvPr>
          <p:cNvSpPr txBox="1"/>
          <p:nvPr/>
        </p:nvSpPr>
        <p:spPr>
          <a:xfrm>
            <a:off x="1013050" y="2210608"/>
            <a:ext cx="604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040622-091C-4302-89B8-994214504947}"/>
              </a:ext>
            </a:extLst>
          </p:cNvPr>
          <p:cNvSpPr txBox="1"/>
          <p:nvPr/>
        </p:nvSpPr>
        <p:spPr>
          <a:xfrm>
            <a:off x="1921470" y="2210608"/>
            <a:ext cx="604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47416C-CC20-4528-9E6B-29806BA3BA3B}"/>
              </a:ext>
            </a:extLst>
          </p:cNvPr>
          <p:cNvSpPr txBox="1"/>
          <p:nvPr/>
        </p:nvSpPr>
        <p:spPr>
          <a:xfrm>
            <a:off x="3662201" y="2210608"/>
            <a:ext cx="7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B43C75-ADC1-45C4-B8A7-20F5B91BAD47}"/>
              </a:ext>
            </a:extLst>
          </p:cNvPr>
          <p:cNvSpPr txBox="1"/>
          <p:nvPr/>
        </p:nvSpPr>
        <p:spPr>
          <a:xfrm>
            <a:off x="2845496" y="2210608"/>
            <a:ext cx="604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B3AF7F-FFF7-43A1-AD4E-EC73024C5568}"/>
              </a:ext>
            </a:extLst>
          </p:cNvPr>
          <p:cNvSpPr txBox="1"/>
          <p:nvPr/>
        </p:nvSpPr>
        <p:spPr>
          <a:xfrm>
            <a:off x="4570799" y="2210608"/>
            <a:ext cx="7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2DB966-25A0-4984-9B63-C732CFF22BF5}"/>
              </a:ext>
            </a:extLst>
          </p:cNvPr>
          <p:cNvSpPr txBox="1"/>
          <p:nvPr/>
        </p:nvSpPr>
        <p:spPr>
          <a:xfrm>
            <a:off x="5479397" y="2210608"/>
            <a:ext cx="7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E98164-920D-4ED4-A5AA-5A7397381533}"/>
              </a:ext>
            </a:extLst>
          </p:cNvPr>
          <p:cNvSpPr txBox="1"/>
          <p:nvPr/>
        </p:nvSpPr>
        <p:spPr>
          <a:xfrm>
            <a:off x="6387995" y="2210608"/>
            <a:ext cx="7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5204BF-7B89-48BE-B911-AB38665495CE}"/>
              </a:ext>
            </a:extLst>
          </p:cNvPr>
          <p:cNvSpPr txBox="1"/>
          <p:nvPr/>
        </p:nvSpPr>
        <p:spPr>
          <a:xfrm>
            <a:off x="7296593" y="2210608"/>
            <a:ext cx="7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608EA6-D8A9-40C5-86D4-F6A06BB55DF0}"/>
              </a:ext>
            </a:extLst>
          </p:cNvPr>
          <p:cNvSpPr txBox="1"/>
          <p:nvPr/>
        </p:nvSpPr>
        <p:spPr>
          <a:xfrm>
            <a:off x="8205191" y="2210608"/>
            <a:ext cx="7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4EBEE0-F0BD-4B44-A294-BA11560FEC18}"/>
              </a:ext>
            </a:extLst>
          </p:cNvPr>
          <p:cNvSpPr txBox="1"/>
          <p:nvPr/>
        </p:nvSpPr>
        <p:spPr>
          <a:xfrm>
            <a:off x="9113789" y="2210608"/>
            <a:ext cx="7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11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50852B-B5D2-43AC-8631-C907E6A781C8}"/>
              </a:ext>
            </a:extLst>
          </p:cNvPr>
          <p:cNvSpPr txBox="1"/>
          <p:nvPr/>
        </p:nvSpPr>
        <p:spPr>
          <a:xfrm>
            <a:off x="10022387" y="2210608"/>
            <a:ext cx="7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12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C54D7B6-3713-48BB-9DDB-12D73AFA8E99}"/>
              </a:ext>
            </a:extLst>
          </p:cNvPr>
          <p:cNvSpPr txBox="1"/>
          <p:nvPr/>
        </p:nvSpPr>
        <p:spPr>
          <a:xfrm>
            <a:off x="1549514" y="3385853"/>
            <a:ext cx="1327377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Gender</a:t>
            </a:r>
          </a:p>
        </p:txBody>
      </p:sp>
      <p:sp>
        <p:nvSpPr>
          <p:cNvPr id="142" name="Slide Number Placeholder 141">
            <a:extLst>
              <a:ext uri="{FF2B5EF4-FFF2-40B4-BE49-F238E27FC236}">
                <a16:creationId xmlns:a16="http://schemas.microsoft.com/office/drawing/2014/main" id="{9FD033B5-99FB-4B26-BF74-3DA89EEE7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5C9BC1-FBED-4F1F-A017-7A89E6F5CB37}"/>
              </a:ext>
            </a:extLst>
          </p:cNvPr>
          <p:cNvSpPr txBox="1"/>
          <p:nvPr/>
        </p:nvSpPr>
        <p:spPr>
          <a:xfrm>
            <a:off x="-257339" y="3402118"/>
            <a:ext cx="1327377" cy="575927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IDs</a:t>
            </a:r>
          </a:p>
          <a:p>
            <a:pPr algn="ctr">
              <a:lnSpc>
                <a:spcPct val="150000"/>
              </a:lnSpc>
            </a:pPr>
            <a:endParaRPr lang="en-US" sz="1000" dirty="0">
              <a:solidFill>
                <a:schemeClr val="accent2">
                  <a:lumMod val="50000"/>
                </a:schemeClr>
              </a:solidFill>
              <a:cs typeface="Biome Light" panose="020B03030302040208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31B309-3EF9-4601-AA65-9BB843F03ABB}"/>
              </a:ext>
            </a:extLst>
          </p:cNvPr>
          <p:cNvSpPr txBox="1"/>
          <p:nvPr/>
        </p:nvSpPr>
        <p:spPr>
          <a:xfrm>
            <a:off x="663267" y="5244578"/>
            <a:ext cx="1327377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Race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27D455-6DCA-4CA9-81DE-0D817327EEB7}"/>
              </a:ext>
            </a:extLst>
          </p:cNvPr>
          <p:cNvSpPr txBox="1"/>
          <p:nvPr/>
        </p:nvSpPr>
        <p:spPr>
          <a:xfrm>
            <a:off x="3195606" y="3398781"/>
            <a:ext cx="1537416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Readmission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F195FA6-BA00-4995-8ACC-927739810BB5}"/>
              </a:ext>
            </a:extLst>
          </p:cNvPr>
          <p:cNvSpPr txBox="1"/>
          <p:nvPr/>
        </p:nvSpPr>
        <p:spPr>
          <a:xfrm>
            <a:off x="5189631" y="3379652"/>
            <a:ext cx="1327377" cy="64633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Time in hospital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E00B6B-F301-46A6-960E-D6DC9D20E874}"/>
              </a:ext>
            </a:extLst>
          </p:cNvPr>
          <p:cNvSpPr txBox="1"/>
          <p:nvPr/>
        </p:nvSpPr>
        <p:spPr>
          <a:xfrm>
            <a:off x="7011448" y="3379652"/>
            <a:ext cx="1327377" cy="64633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Diabetes Meds</a:t>
            </a:r>
            <a:endParaRPr lang="en-US" sz="1000" dirty="0">
              <a:solidFill>
                <a:schemeClr val="accent2">
                  <a:lumMod val="50000"/>
                </a:schemeClr>
              </a:solidFill>
              <a:cs typeface="Biome Light" panose="020B03030302040208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89713F-7A81-47C6-BF20-518132DF809A}"/>
              </a:ext>
            </a:extLst>
          </p:cNvPr>
          <p:cNvSpPr txBox="1"/>
          <p:nvPr/>
        </p:nvSpPr>
        <p:spPr>
          <a:xfrm>
            <a:off x="8853311" y="3360899"/>
            <a:ext cx="1327377" cy="64633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Change in Meds</a:t>
            </a:r>
            <a:endParaRPr lang="en-US" sz="1000" dirty="0">
              <a:solidFill>
                <a:schemeClr val="accent2">
                  <a:lumMod val="50000"/>
                </a:schemeClr>
              </a:solidFill>
              <a:cs typeface="Biome Light" panose="020B03030302040208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8AECAF-E502-400B-805A-8A4FB663F679}"/>
              </a:ext>
            </a:extLst>
          </p:cNvPr>
          <p:cNvSpPr txBox="1"/>
          <p:nvPr/>
        </p:nvSpPr>
        <p:spPr>
          <a:xfrm>
            <a:off x="2468457" y="5240228"/>
            <a:ext cx="1327377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Weight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0771C9-6568-4256-A57B-3C51C9CA2A05}"/>
              </a:ext>
            </a:extLst>
          </p:cNvPr>
          <p:cNvSpPr txBox="1"/>
          <p:nvPr/>
        </p:nvSpPr>
        <p:spPr>
          <a:xfrm>
            <a:off x="3828635" y="5240228"/>
            <a:ext cx="2286219" cy="575927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Medical Specialties</a:t>
            </a:r>
          </a:p>
          <a:p>
            <a:pPr algn="ctr">
              <a:lnSpc>
                <a:spcPct val="150000"/>
              </a:lnSpc>
            </a:pPr>
            <a:endParaRPr lang="en-US" sz="1000" dirty="0">
              <a:solidFill>
                <a:schemeClr val="accent2">
                  <a:lumMod val="50000"/>
                </a:schemeClr>
              </a:solidFill>
              <a:cs typeface="Biome Light" panose="020B03030302040208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099068-0CD1-4580-A6CB-40F390FD7913}"/>
              </a:ext>
            </a:extLst>
          </p:cNvPr>
          <p:cNvSpPr txBox="1"/>
          <p:nvPr/>
        </p:nvSpPr>
        <p:spPr>
          <a:xfrm>
            <a:off x="6102849" y="5240228"/>
            <a:ext cx="1327377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Drugs</a:t>
            </a:r>
            <a:endParaRPr lang="en-US" sz="1000" dirty="0">
              <a:solidFill>
                <a:schemeClr val="accent2">
                  <a:lumMod val="50000"/>
                </a:schemeClr>
              </a:solidFill>
              <a:cs typeface="Biome Light" panose="020B03030302040208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87F7250-A811-409D-93F5-6A4CB003D9DD}"/>
              </a:ext>
            </a:extLst>
          </p:cNvPr>
          <p:cNvSpPr txBox="1"/>
          <p:nvPr/>
        </p:nvSpPr>
        <p:spPr>
          <a:xfrm>
            <a:off x="7797591" y="5240228"/>
            <a:ext cx="1572285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No. of Meds</a:t>
            </a:r>
            <a:endParaRPr lang="en-US" sz="1000" dirty="0">
              <a:solidFill>
                <a:schemeClr val="accent2">
                  <a:lumMod val="50000"/>
                </a:schemeClr>
              </a:solidFill>
              <a:cs typeface="Biome Light" panose="020B03030302040208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3EE4F41-7315-44A4-8837-DC46DDA91BE9}"/>
              </a:ext>
            </a:extLst>
          </p:cNvPr>
          <p:cNvSpPr txBox="1"/>
          <p:nvPr/>
        </p:nvSpPr>
        <p:spPr>
          <a:xfrm>
            <a:off x="9492332" y="5291663"/>
            <a:ext cx="2321406" cy="64633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Glucose serum test result</a:t>
            </a:r>
            <a:endParaRPr lang="en-US" sz="1000" dirty="0">
              <a:solidFill>
                <a:schemeClr val="accent2">
                  <a:lumMod val="50000"/>
                </a:schemeClr>
              </a:solidFill>
              <a:cs typeface="Biome Light" panose="020B0303030204020804" pitchFamily="34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F9F82F8-D2F7-4127-A6B1-95A748817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91351" y="2407225"/>
            <a:ext cx="0" cy="849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CB823E88-A7C5-42CF-8AB7-BE0FAC210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89274" y="2077808"/>
            <a:ext cx="604157" cy="604156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EE431B-930E-4158-8E4E-4B61380BBC3C}"/>
              </a:ext>
            </a:extLst>
          </p:cNvPr>
          <p:cNvSpPr txBox="1"/>
          <p:nvPr/>
        </p:nvSpPr>
        <p:spPr>
          <a:xfrm>
            <a:off x="11112808" y="2210608"/>
            <a:ext cx="757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13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E06283-D565-4FA7-994B-8E5295083E2D}"/>
              </a:ext>
            </a:extLst>
          </p:cNvPr>
          <p:cNvSpPr txBox="1"/>
          <p:nvPr/>
        </p:nvSpPr>
        <p:spPr>
          <a:xfrm>
            <a:off x="10852330" y="3360899"/>
            <a:ext cx="1327377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A1C result</a:t>
            </a:r>
            <a:endParaRPr lang="en-US" sz="1000" dirty="0">
              <a:solidFill>
                <a:schemeClr val="accent2">
                  <a:lumMod val="50000"/>
                </a:schemeClr>
              </a:solidFill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209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736826-B544-4D92-AF09-FF57265BC5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01557" y="2426610"/>
            <a:ext cx="2378075" cy="1111250"/>
          </a:xfrm>
        </p:spPr>
        <p:txBody>
          <a:bodyPr/>
          <a:lstStyle/>
          <a:p>
            <a:r>
              <a:rPr lang="en-IN" dirty="0"/>
              <a:t>02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F372C5-9AE9-445E-97E4-EB3DB380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082" y="1543050"/>
            <a:ext cx="6674802" cy="2986088"/>
          </a:xfrm>
        </p:spPr>
        <p:txBody>
          <a:bodyPr>
            <a:normAutofit/>
          </a:bodyPr>
          <a:lstStyle/>
          <a:p>
            <a:r>
              <a:rPr lang="en-US" dirty="0"/>
              <a:t>Data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084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25AC8E0E-F9A1-4D3C-8AB5-4C215FD5C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6EA654D2-86ED-4606-A329-F691040D1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066" y="368421"/>
            <a:ext cx="10301409" cy="1340615"/>
          </a:xfrm>
        </p:spPr>
        <p:txBody>
          <a:bodyPr/>
          <a:lstStyle/>
          <a:p>
            <a:r>
              <a:rPr lang="en-IN" sz="4500" dirty="0"/>
              <a:t>Data Management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42E0BF4-24D3-447A-A6E5-272ED7B2EC1B}"/>
              </a:ext>
            </a:extLst>
          </p:cNvPr>
          <p:cNvSpPr txBox="1">
            <a:spLocks/>
          </p:cNvSpPr>
          <p:nvPr/>
        </p:nvSpPr>
        <p:spPr>
          <a:xfrm>
            <a:off x="662796" y="2252752"/>
            <a:ext cx="6366654" cy="3651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600" noProof="1"/>
              <a:t>Discharge Disposition: Death/Hospice</a:t>
            </a:r>
            <a:endParaRPr lang="en-IN" sz="160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973E9B-55F4-477C-9575-F4C9B0A1205B}"/>
              </a:ext>
            </a:extLst>
          </p:cNvPr>
          <p:cNvSpPr txBox="1">
            <a:spLocks/>
          </p:cNvSpPr>
          <p:nvPr/>
        </p:nvSpPr>
        <p:spPr>
          <a:xfrm>
            <a:off x="662796" y="2988177"/>
            <a:ext cx="6366654" cy="17540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600" noProof="1">
                <a:latin typeface="+mj-lt"/>
              </a:rPr>
              <a:t>Irrelevant columns Dropped: </a:t>
            </a:r>
          </a:p>
          <a:p>
            <a:pPr marL="914400" lvl="2" indent="0">
              <a:buNone/>
            </a:pPr>
            <a:r>
              <a:rPr lang="en-ZA" sz="1600" noProof="1">
                <a:latin typeface="+mj-lt"/>
              </a:rPr>
              <a:t>IDs</a:t>
            </a:r>
          </a:p>
          <a:p>
            <a:pPr marL="914400" lvl="2" indent="0">
              <a:buNone/>
            </a:pPr>
            <a:r>
              <a:rPr lang="en-ZA" sz="1600" noProof="1">
                <a:latin typeface="+mj-lt"/>
              </a:rPr>
              <a:t>Diag 1, Diag 2, Diag 3, </a:t>
            </a:r>
          </a:p>
          <a:p>
            <a:pPr marL="914400" lvl="2" indent="0">
              <a:buNone/>
            </a:pPr>
            <a:r>
              <a:rPr lang="en-ZA" sz="1600" noProof="1">
                <a:latin typeface="+mj-lt"/>
              </a:rPr>
              <a:t>Drugs: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examide and citoglipton 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CBEBDE0-23B7-43C4-B07F-EA00E55CD9F8}"/>
              </a:ext>
            </a:extLst>
          </p:cNvPr>
          <p:cNvSpPr txBox="1">
            <a:spLocks/>
          </p:cNvSpPr>
          <p:nvPr/>
        </p:nvSpPr>
        <p:spPr>
          <a:xfrm>
            <a:off x="662796" y="5112575"/>
            <a:ext cx="6366654" cy="3651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600" noProof="1"/>
              <a:t>Prevalence</a:t>
            </a:r>
            <a:endParaRPr lang="en-IN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8E19B-0219-46AC-B4E4-DEF97489BA2C}"/>
              </a:ext>
            </a:extLst>
          </p:cNvPr>
          <p:cNvSpPr txBox="1"/>
          <p:nvPr/>
        </p:nvSpPr>
        <p:spPr>
          <a:xfrm>
            <a:off x="0" y="0"/>
            <a:ext cx="942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02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92471E-B439-4A70-BE28-FCBAAB989C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70" t="32840" r="15156" b="18526"/>
          <a:stretch/>
        </p:blipFill>
        <p:spPr>
          <a:xfrm>
            <a:off x="5486401" y="1944732"/>
            <a:ext cx="6257116" cy="370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54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736826-B544-4D92-AF09-FF57265BC5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01557" y="2426610"/>
            <a:ext cx="2378075" cy="1111250"/>
          </a:xfrm>
        </p:spPr>
        <p:txBody>
          <a:bodyPr/>
          <a:lstStyle/>
          <a:p>
            <a:r>
              <a:rPr lang="en-IN" dirty="0"/>
              <a:t>03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F372C5-9AE9-445E-97E4-EB3DB380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082" y="1543050"/>
            <a:ext cx="6674802" cy="2986088"/>
          </a:xfrm>
        </p:spPr>
        <p:txBody>
          <a:bodyPr>
            <a:normAutofit/>
          </a:bodyPr>
          <a:lstStyle/>
          <a:p>
            <a:r>
              <a:rPr lang="en-US" dirty="0"/>
              <a:t>Feature engineering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964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6DF314-8C1B-4E92-8C08-78C584ADE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9CE7D-C784-4174-922E-4631A6CF7716}"/>
              </a:ext>
            </a:extLst>
          </p:cNvPr>
          <p:cNvSpPr txBox="1"/>
          <p:nvPr/>
        </p:nvSpPr>
        <p:spPr>
          <a:xfrm>
            <a:off x="7125994" y="5097086"/>
            <a:ext cx="2085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Extra Features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CDF7C-58A0-4821-9982-CBC28F29A874}"/>
              </a:ext>
            </a:extLst>
          </p:cNvPr>
          <p:cNvSpPr txBox="1"/>
          <p:nvPr/>
        </p:nvSpPr>
        <p:spPr>
          <a:xfrm>
            <a:off x="7125994" y="2887303"/>
            <a:ext cx="270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Categorical Features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E4D773-A6D3-4CF2-A85E-8A8B10804398}"/>
              </a:ext>
            </a:extLst>
          </p:cNvPr>
          <p:cNvSpPr txBox="1"/>
          <p:nvPr/>
        </p:nvSpPr>
        <p:spPr>
          <a:xfrm>
            <a:off x="7125994" y="490965"/>
            <a:ext cx="2481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Numerical Features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6505C-D119-416C-BC1E-D47F3126494A}"/>
              </a:ext>
            </a:extLst>
          </p:cNvPr>
          <p:cNvSpPr txBox="1"/>
          <p:nvPr/>
        </p:nvSpPr>
        <p:spPr>
          <a:xfrm>
            <a:off x="533398" y="777043"/>
            <a:ext cx="5153025" cy="1676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New dataframes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Columns/features to use in the Models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Break down into 3 sections</a:t>
            </a:r>
          </a:p>
        </p:txBody>
      </p:sp>
      <p:pic>
        <p:nvPicPr>
          <p:cNvPr id="12" name="Graphic 11" descr="Arrow: Straight with solid fill">
            <a:extLst>
              <a:ext uri="{FF2B5EF4-FFF2-40B4-BE49-F238E27FC236}">
                <a16:creationId xmlns:a16="http://schemas.microsoft.com/office/drawing/2014/main" id="{1B8F5EEA-39A7-4D60-815D-D6A737A69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195510" y="291626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A930FB4-E20D-419A-99DA-6A532018CE48}"/>
              </a:ext>
            </a:extLst>
          </p:cNvPr>
          <p:cNvSpPr txBox="1"/>
          <p:nvPr/>
        </p:nvSpPr>
        <p:spPr>
          <a:xfrm>
            <a:off x="6872287" y="1084258"/>
            <a:ext cx="2339682" cy="1384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time_in_hospital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num_lab_procedures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num_procedures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num_medications</a:t>
            </a:r>
            <a:endParaRPr lang="en-IN" sz="15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9C6B2F-5847-4DD5-8FD6-E3E58CCBD625}"/>
              </a:ext>
            </a:extLst>
          </p:cNvPr>
          <p:cNvSpPr txBox="1"/>
          <p:nvPr/>
        </p:nvSpPr>
        <p:spPr>
          <a:xfrm>
            <a:off x="9445912" y="1084257"/>
            <a:ext cx="2255550" cy="1384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number_outpatient</a:t>
            </a:r>
            <a:endParaRPr lang="en-IN" sz="15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number_emergency</a:t>
            </a:r>
            <a:endParaRPr lang="en-IN" sz="15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number_inpatient</a:t>
            </a:r>
            <a:endParaRPr lang="en-IN" sz="15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number_diagnoses</a:t>
            </a:r>
            <a:endParaRPr lang="en-IN" sz="15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3BE32B-2973-4EA6-98FC-DDC44AE438B4}"/>
              </a:ext>
            </a:extLst>
          </p:cNvPr>
          <p:cNvSpPr txBox="1"/>
          <p:nvPr/>
        </p:nvSpPr>
        <p:spPr>
          <a:xfrm>
            <a:off x="6872287" y="3429001"/>
            <a:ext cx="2339682" cy="1384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Race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Gender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A1Cresult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Glucose s</a:t>
            </a:r>
            <a:r>
              <a:rPr lang="en-IN" sz="15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erum test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E9A314-DEEC-4F77-946F-4A5BA5C1D1E8}"/>
              </a:ext>
            </a:extLst>
          </p:cNvPr>
          <p:cNvSpPr txBox="1"/>
          <p:nvPr/>
        </p:nvSpPr>
        <p:spPr>
          <a:xfrm>
            <a:off x="9315450" y="3429000"/>
            <a:ext cx="2470144" cy="1384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Drugs, diabetes Meds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Change of Meds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Medical specialty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Payer Code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FFDDB5-18E7-4843-8C13-70AC9735F86C}"/>
              </a:ext>
            </a:extLst>
          </p:cNvPr>
          <p:cNvSpPr txBox="1"/>
          <p:nvPr/>
        </p:nvSpPr>
        <p:spPr>
          <a:xfrm>
            <a:off x="6999140" y="5690578"/>
            <a:ext cx="2339682" cy="684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Age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500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Weight </a:t>
            </a:r>
            <a:endParaRPr lang="en-IN" sz="1500" dirty="0">
              <a:solidFill>
                <a:srgbClr val="00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ED30CB-C522-45CC-81FD-1C8D0A03741D}"/>
              </a:ext>
            </a:extLst>
          </p:cNvPr>
          <p:cNvSpPr txBox="1"/>
          <p:nvPr/>
        </p:nvSpPr>
        <p:spPr>
          <a:xfrm>
            <a:off x="533398" y="4087646"/>
            <a:ext cx="5153025" cy="2018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spc="-5" dirty="0">
                <a:solidFill>
                  <a:srgbClr val="292929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Total number of features: 143</a:t>
            </a:r>
            <a:endParaRPr lang="en-IN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spc="-5" dirty="0">
                <a:solidFill>
                  <a:srgbClr val="292929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Numerical features: 8</a:t>
            </a:r>
            <a:endParaRPr lang="en-IN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spc="-5" dirty="0">
                <a:solidFill>
                  <a:srgbClr val="292929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Categorical Features: 133</a:t>
            </a:r>
            <a:endParaRPr lang="en-IN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spc="-5" dirty="0">
                <a:solidFill>
                  <a:srgbClr val="292929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Extra features: 2</a:t>
            </a:r>
            <a:endParaRPr lang="en-IN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0DA3FD-CFCA-4332-9931-49E4F2FCED1E}"/>
              </a:ext>
            </a:extLst>
          </p:cNvPr>
          <p:cNvSpPr txBox="1"/>
          <p:nvPr/>
        </p:nvSpPr>
        <p:spPr>
          <a:xfrm>
            <a:off x="0" y="0"/>
            <a:ext cx="942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958577"/>
                </a:solidFill>
              </a:rPr>
              <a:t>03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3B6D647-3981-45CC-9FEC-F901744DFE86}"/>
              </a:ext>
            </a:extLst>
          </p:cNvPr>
          <p:cNvCxnSpPr>
            <a:cxnSpLocks/>
          </p:cNvCxnSpPr>
          <p:nvPr/>
        </p:nvCxnSpPr>
        <p:spPr>
          <a:xfrm>
            <a:off x="5800725" y="371475"/>
            <a:ext cx="0" cy="6003970"/>
          </a:xfrm>
          <a:prstGeom prst="line">
            <a:avLst/>
          </a:prstGeom>
          <a:ln>
            <a:solidFill>
              <a:srgbClr val="9585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968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-up of a dumbbell&#10;&#10;Description automatically generated with low confidence">
            <a:extLst>
              <a:ext uri="{FF2B5EF4-FFF2-40B4-BE49-F238E27FC236}">
                <a16:creationId xmlns:a16="http://schemas.microsoft.com/office/drawing/2014/main" id="{55E14643-9AC9-4F1D-B6FF-E4F74A2293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12183545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A56CA-A9FB-465B-9221-D1498220D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object 3" descr="People with documents">
            <a:extLst>
              <a:ext uri="{FF2B5EF4-FFF2-40B4-BE49-F238E27FC236}">
                <a16:creationId xmlns:a16="http://schemas.microsoft.com/office/drawing/2014/main" id="{978B3AD3-5CD1-4924-9981-F455AD6413A7}"/>
              </a:ext>
            </a:extLst>
          </p:cNvPr>
          <p:cNvSpPr/>
          <p:nvPr/>
        </p:nvSpPr>
        <p:spPr>
          <a:xfrm>
            <a:off x="254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27C30-6F89-4FE3-B250-38247C2AF6DA}"/>
              </a:ext>
            </a:extLst>
          </p:cNvPr>
          <p:cNvSpPr txBox="1"/>
          <p:nvPr/>
        </p:nvSpPr>
        <p:spPr>
          <a:xfrm>
            <a:off x="942975" y="1888866"/>
            <a:ext cx="8601075" cy="3788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Splitting the Data: Train: 70%</a:t>
            </a:r>
          </a:p>
          <a:p>
            <a:pPr lvl="4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          Validation: 15%</a:t>
            </a:r>
          </a:p>
          <a:p>
            <a:pPr lvl="4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           Test: 15% </a:t>
            </a:r>
          </a:p>
          <a:p>
            <a:pPr lvl="4"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Imbalanced Data: 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S</a:t>
            </a:r>
            <a:r>
              <a:rPr lang="en-IN" sz="18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</a:rPr>
              <a:t>ub-sample the more dominant class: use a random subset of the negatives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Standard Scale: Age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	    Weight (Knn and Logistic Reg)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319983-6165-4C57-BDFE-99DE097A84CA}"/>
              </a:ext>
            </a:extLst>
          </p:cNvPr>
          <p:cNvSpPr txBox="1"/>
          <p:nvPr/>
        </p:nvSpPr>
        <p:spPr>
          <a:xfrm>
            <a:off x="0" y="0"/>
            <a:ext cx="942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559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736826-B544-4D92-AF09-FF57265BC5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01557" y="2426610"/>
            <a:ext cx="2378075" cy="1111250"/>
          </a:xfrm>
        </p:spPr>
        <p:txBody>
          <a:bodyPr/>
          <a:lstStyle/>
          <a:p>
            <a:r>
              <a:rPr lang="en-IN" dirty="0"/>
              <a:t>04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F372C5-9AE9-445E-97E4-EB3DB380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082" y="1543050"/>
            <a:ext cx="6674802" cy="2986088"/>
          </a:xfrm>
        </p:spPr>
        <p:txBody>
          <a:bodyPr>
            <a:normAutofit/>
          </a:bodyPr>
          <a:lstStyle/>
          <a:p>
            <a:r>
              <a:rPr lang="en-US" dirty="0"/>
              <a:t>Data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809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47AC2AE3-3F10-476D-BAC8-AF34A7E6E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9116"/>
            <a:ext cx="6035040" cy="3354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">
            <a:extLst>
              <a:ext uri="{FF2B5EF4-FFF2-40B4-BE49-F238E27FC236}">
                <a16:creationId xmlns:a16="http://schemas.microsoft.com/office/drawing/2014/main" id="{90081C60-49D5-4D7B-B03A-C777684F9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3474720"/>
            <a:ext cx="6035040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5" name="Rectangle 264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7E93D-BB39-4013-A843-780147924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z="1200" smtClean="0">
                <a:latin typeface="+mn-lt"/>
                <a:cs typeface="+mn-cs"/>
              </a:rPr>
              <a:pPr>
                <a:spcAft>
                  <a:spcPts val="600"/>
                </a:spcAft>
              </a:pPr>
              <a:t>12</a:t>
            </a:fld>
            <a:endParaRPr lang="en-US" sz="1200" dirty="0">
              <a:latin typeface="+mn-lt"/>
              <a:cs typeface="+mn-cs"/>
            </a:endParaRP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4448AC50-09C4-4885-8730-A49ADE399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6479" y="1340963"/>
            <a:ext cx="6046471" cy="418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644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image">
            <a:extLst>
              <a:ext uri="{FF2B5EF4-FFF2-40B4-BE49-F238E27FC236}">
                <a16:creationId xmlns:a16="http://schemas.microsoft.com/office/drawing/2014/main" id="{1F19F387-2918-4FAB-9BD2-4D04E8CB6B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1"/>
          <a:stretch/>
        </p:blipFill>
        <p:spPr bwMode="auto">
          <a:xfrm>
            <a:off x="0" y="193040"/>
            <a:ext cx="6065520" cy="319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8" name="Picture 12" descr="image">
            <a:extLst>
              <a:ext uri="{FF2B5EF4-FFF2-40B4-BE49-F238E27FC236}">
                <a16:creationId xmlns:a16="http://schemas.microsoft.com/office/drawing/2014/main" id="{A040932A-67CE-443F-A13C-52930C8B4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6480" y="0"/>
            <a:ext cx="6065520" cy="340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image">
            <a:extLst>
              <a:ext uri="{FF2B5EF4-FFF2-40B4-BE49-F238E27FC236}">
                <a16:creationId xmlns:a16="http://schemas.microsoft.com/office/drawing/2014/main" id="{9A67781F-F18E-472E-A013-EAE6BBB4A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3474720"/>
            <a:ext cx="6035040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image">
            <a:extLst>
              <a:ext uri="{FF2B5EF4-FFF2-40B4-BE49-F238E27FC236}">
                <a16:creationId xmlns:a16="http://schemas.microsoft.com/office/drawing/2014/main" id="{952BE4AD-23D2-4E17-BB7A-7A0A6F3A5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56960" y="3474720"/>
            <a:ext cx="6035040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7E93D-BB39-4013-A843-780147924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z="1200" smtClean="0">
                <a:latin typeface="+mn-lt"/>
                <a:cs typeface="+mn-cs"/>
              </a:rPr>
              <a:pPr>
                <a:spcAft>
                  <a:spcPts val="600"/>
                </a:spcAft>
              </a:pPr>
              <a:t>13</a:t>
            </a:fld>
            <a:endParaRPr lang="en-US" sz="1200" dirty="0">
              <a:latin typeface="+mn-lt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C80C04-5A4F-40D8-8BBC-5E170497EAE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687" t="52903" r="63171" b="44724"/>
          <a:stretch/>
        </p:blipFill>
        <p:spPr>
          <a:xfrm>
            <a:off x="1891654" y="-4070"/>
            <a:ext cx="2282211" cy="17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image">
            <a:extLst>
              <a:ext uri="{FF2B5EF4-FFF2-40B4-BE49-F238E27FC236}">
                <a16:creationId xmlns:a16="http://schemas.microsoft.com/office/drawing/2014/main" id="{C95EB1D4-4AED-4D75-90F6-724921938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5240" y="45720"/>
            <a:ext cx="6042660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9" name="Rectangle 138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 descr="image">
            <a:extLst>
              <a:ext uri="{FF2B5EF4-FFF2-40B4-BE49-F238E27FC236}">
                <a16:creationId xmlns:a16="http://schemas.microsoft.com/office/drawing/2014/main" id="{4BC70F24-1363-418E-9E31-8DC809D4D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0"/>
            <a:ext cx="6080760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6" name="Picture 6" descr="image">
            <a:extLst>
              <a:ext uri="{FF2B5EF4-FFF2-40B4-BE49-F238E27FC236}">
                <a16:creationId xmlns:a16="http://schemas.microsoft.com/office/drawing/2014/main" id="{D346F9CA-20D6-4F0E-A0C2-3A09C8563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3474720"/>
            <a:ext cx="6050280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">
            <a:extLst>
              <a:ext uri="{FF2B5EF4-FFF2-40B4-BE49-F238E27FC236}">
                <a16:creationId xmlns:a16="http://schemas.microsoft.com/office/drawing/2014/main" id="{6D792730-2723-49C3-930F-119987B54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6480" y="3474720"/>
            <a:ext cx="6065520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57E93D-BB39-4013-A843-780147924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z="1200" smtClean="0">
                <a:latin typeface="+mn-lt"/>
                <a:cs typeface="+mn-cs"/>
              </a:rPr>
              <a:pPr>
                <a:spcAft>
                  <a:spcPts val="600"/>
                </a:spcAft>
              </a:pPr>
              <a:t>14</a:t>
            </a:fld>
            <a:endParaRPr lang="en-US" sz="12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859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736826-B544-4D92-AF09-FF57265BC5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01557" y="2426610"/>
            <a:ext cx="2378075" cy="1111250"/>
          </a:xfrm>
        </p:spPr>
        <p:txBody>
          <a:bodyPr/>
          <a:lstStyle/>
          <a:p>
            <a:r>
              <a:rPr lang="en-IN" dirty="0"/>
              <a:t>05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F372C5-9AE9-445E-97E4-EB3DB380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332" y="1489191"/>
            <a:ext cx="6674802" cy="2986088"/>
          </a:xfrm>
        </p:spPr>
        <p:txBody>
          <a:bodyPr>
            <a:normAutofit/>
          </a:bodyPr>
          <a:lstStyle/>
          <a:p>
            <a:r>
              <a:rPr lang="en-US" dirty="0"/>
              <a:t>Predictive Modeling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915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34CC2084-FCB9-4F4B-8B47-44B2A81D523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47725" y="2005017"/>
            <a:ext cx="9152618" cy="44819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solidFill>
                  <a:srgbClr val="C0C9C2">
                    <a:lumMod val="50000"/>
                  </a:srgbClr>
                </a:solidFill>
                <a:cs typeface="Biome Light" panose="020B0303030204020804" pitchFamily="34" charset="0"/>
              </a:rPr>
              <a:t>What is Logistic Regression? </a:t>
            </a:r>
          </a:p>
          <a:p>
            <a:r>
              <a:rPr lang="en-IN" sz="1800" dirty="0">
                <a:solidFill>
                  <a:schemeClr val="accent2">
                    <a:lumMod val="50000"/>
                  </a:schemeClr>
                </a:solidFill>
              </a:rPr>
              <a:t>Logistic regression is used</a:t>
            </a:r>
            <a:r>
              <a:rPr lang="en-IN" sz="18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IN" sz="1800" dirty="0">
                <a:solidFill>
                  <a:schemeClr val="accent2">
                    <a:lumMod val="50000"/>
                  </a:schemeClr>
                </a:solidFill>
              </a:rPr>
              <a:t>to</a:t>
            </a:r>
            <a:r>
              <a:rPr lang="en-IN" sz="1800" b="1" dirty="0">
                <a:solidFill>
                  <a:schemeClr val="accent2">
                    <a:lumMod val="50000"/>
                  </a:schemeClr>
                </a:solidFill>
              </a:rPr>
              <a:t> predict a binary outcome, such as yes or no, </a:t>
            </a:r>
            <a:r>
              <a:rPr lang="en-IN" sz="1800" dirty="0">
                <a:solidFill>
                  <a:schemeClr val="accent2">
                    <a:lumMod val="50000"/>
                  </a:schemeClr>
                </a:solidFill>
              </a:rPr>
              <a:t>based on prior observations of a data set. </a:t>
            </a:r>
          </a:p>
          <a:p>
            <a:endParaRPr lang="en-IN" sz="1800" dirty="0">
              <a:solidFill>
                <a:schemeClr val="accent2">
                  <a:lumMod val="50000"/>
                </a:schemeClr>
              </a:solidFill>
              <a:cs typeface="Biome Light" panose="020B0303030204020804" pitchFamily="34" charset="0"/>
            </a:endParaRPr>
          </a:p>
          <a:p>
            <a:r>
              <a:rPr lang="en-IN" sz="18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Dependent Variable: Readmitted within 30 days or not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		              yes: 1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2">
                    <a:lumMod val="50000"/>
                  </a:schemeClr>
                </a:solidFill>
                <a:cs typeface="Biome Light" panose="020B0303030204020804" pitchFamily="34" charset="0"/>
              </a:rPr>
              <a:t> 		              No: 0</a:t>
            </a:r>
          </a:p>
          <a:p>
            <a:pPr marL="0" indent="0">
              <a:buNone/>
            </a:pPr>
            <a:endParaRPr lang="en-US" sz="1800" dirty="0">
              <a:solidFill>
                <a:srgbClr val="C0C9C2">
                  <a:lumMod val="50000"/>
                </a:srgbClr>
              </a:solidFill>
              <a:cs typeface="Biome Light" panose="020B03030302040208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1800" dirty="0">
              <a:solidFill>
                <a:srgbClr val="C0C9C2">
                  <a:lumMod val="50000"/>
                </a:srgbClr>
              </a:solidFill>
              <a:cs typeface="Biome Light" panose="020B03030302040208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1800" dirty="0">
              <a:solidFill>
                <a:srgbClr val="C0C9C2">
                  <a:lumMod val="50000"/>
                </a:srgbClr>
              </a:solidFill>
              <a:cs typeface="Biome Light" panose="020B0303030204020804" pitchFamily="34" charset="0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25AC8E0E-F9A1-4D3C-8AB5-4C215FD5C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Title 17">
            <a:extLst>
              <a:ext uri="{FF2B5EF4-FFF2-40B4-BE49-F238E27FC236}">
                <a16:creationId xmlns:a16="http://schemas.microsoft.com/office/drawing/2014/main" id="{BA21F84C-43BE-4690-BAC7-941B54E8E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" y="368421"/>
            <a:ext cx="6749218" cy="1193679"/>
          </a:xfrm>
        </p:spPr>
        <p:txBody>
          <a:bodyPr/>
          <a:lstStyle/>
          <a:p>
            <a:r>
              <a:rPr lang="en-IN" sz="4500" dirty="0"/>
              <a:t>Logistic Regression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AE162681-7D97-49CD-9F31-A0E0CBA2221D}"/>
              </a:ext>
            </a:extLst>
          </p:cNvPr>
          <p:cNvSpPr txBox="1">
            <a:spLocks/>
          </p:cNvSpPr>
          <p:nvPr/>
        </p:nvSpPr>
        <p:spPr>
          <a:xfrm>
            <a:off x="0" y="-273104"/>
            <a:ext cx="850067" cy="6415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05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840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34CC2084-FCB9-4F4B-8B47-44B2A81D523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47725" y="1744664"/>
            <a:ext cx="10807246" cy="45690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defRPr/>
            </a:pPr>
            <a:r>
              <a:rPr lang="en-IN" sz="1800" dirty="0">
                <a:effectLst/>
                <a:latin typeface="+mj-lt"/>
                <a:ea typeface="Times New Roman" panose="02020603050405020304" pitchFamily="18" charset="0"/>
              </a:rPr>
              <a:t>The number of nearest neighbours considered for a new unknown variable that has to be predicted or classified is denoted by the symbol ‘K’.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  <a:defRPr/>
            </a:pPr>
            <a:endParaRPr lang="en-IN" sz="1800" dirty="0"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defRPr/>
            </a:pPr>
            <a:r>
              <a:rPr lang="en-US" sz="1800" b="0" i="0" dirty="0">
                <a:solidFill>
                  <a:srgbClr val="292929"/>
                </a:solidFill>
                <a:effectLst/>
                <a:latin typeface="+mj-lt"/>
              </a:rPr>
              <a:t>There are various methods for calculating this distance, of which the most commonly known methods are — Euclidian, Manhattan (for continuous) and Hamming distance (for categorical).</a:t>
            </a:r>
            <a:endParaRPr lang="en-US" sz="1800" dirty="0">
              <a:solidFill>
                <a:srgbClr val="C0C9C2">
                  <a:lumMod val="50000"/>
                </a:srgbClr>
              </a:solidFill>
              <a:latin typeface="+mj-lt"/>
              <a:cs typeface="Biome Light" panose="020B0303030204020804" pitchFamily="34" charset="0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25AC8E0E-F9A1-4D3C-8AB5-4C215FD5C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Title 17">
            <a:extLst>
              <a:ext uri="{FF2B5EF4-FFF2-40B4-BE49-F238E27FC236}">
                <a16:creationId xmlns:a16="http://schemas.microsoft.com/office/drawing/2014/main" id="{BA21F84C-43BE-4690-BAC7-941B54E8E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" y="368421"/>
            <a:ext cx="6749218" cy="1193679"/>
          </a:xfrm>
        </p:spPr>
        <p:txBody>
          <a:bodyPr/>
          <a:lstStyle/>
          <a:p>
            <a:r>
              <a:rPr lang="en-IN" sz="4500" dirty="0"/>
              <a:t>KNN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AE162681-7D97-49CD-9F31-A0E0CBA2221D}"/>
              </a:ext>
            </a:extLst>
          </p:cNvPr>
          <p:cNvSpPr txBox="1">
            <a:spLocks/>
          </p:cNvSpPr>
          <p:nvPr/>
        </p:nvSpPr>
        <p:spPr>
          <a:xfrm>
            <a:off x="0" y="-273104"/>
            <a:ext cx="850067" cy="6415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05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18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25AC8E0E-F9A1-4D3C-8AB5-4C215FD5C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1" name="Title 17">
            <a:extLst>
              <a:ext uri="{FF2B5EF4-FFF2-40B4-BE49-F238E27FC236}">
                <a16:creationId xmlns:a16="http://schemas.microsoft.com/office/drawing/2014/main" id="{BA21F84C-43BE-4690-BAC7-941B54E8E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" y="368421"/>
            <a:ext cx="6749218" cy="1193679"/>
          </a:xfrm>
        </p:spPr>
        <p:txBody>
          <a:bodyPr/>
          <a:lstStyle/>
          <a:p>
            <a:r>
              <a:rPr lang="en-IN" sz="4500" dirty="0"/>
              <a:t>Decision tree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AE162681-7D97-49CD-9F31-A0E0CBA2221D}"/>
              </a:ext>
            </a:extLst>
          </p:cNvPr>
          <p:cNvSpPr txBox="1">
            <a:spLocks/>
          </p:cNvSpPr>
          <p:nvPr/>
        </p:nvSpPr>
        <p:spPr>
          <a:xfrm>
            <a:off x="0" y="-273104"/>
            <a:ext cx="850067" cy="6415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05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541308-40E6-F744-A617-2693D57B421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6096000" y="2450094"/>
            <a:ext cx="5290936" cy="24194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47D3E0-BAEE-0A4A-AFB7-E5C1383D7679}"/>
              </a:ext>
            </a:extLst>
          </p:cNvPr>
          <p:cNvSpPr txBox="1"/>
          <p:nvPr/>
        </p:nvSpPr>
        <p:spPr>
          <a:xfrm>
            <a:off x="674915" y="2487381"/>
            <a:ext cx="368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Decision Tree?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EAA9CC-4DC8-6349-8C61-F5348365D44B}"/>
              </a:ext>
            </a:extLst>
          </p:cNvPr>
          <p:cNvSpPr txBox="1"/>
          <p:nvPr/>
        </p:nvSpPr>
        <p:spPr>
          <a:xfrm>
            <a:off x="674915" y="3198166"/>
            <a:ext cx="3110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</a:t>
            </a:r>
            <a:r>
              <a:rPr lang="en-US" sz="2000" dirty="0"/>
              <a:t> </a:t>
            </a:r>
            <a:r>
              <a:rPr lang="en-US" sz="2400" dirty="0"/>
              <a:t>did we use it? </a:t>
            </a:r>
            <a:r>
              <a:rPr lang="en-US" sz="20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39007F-473C-0E48-AD6C-F3C2E227F200}"/>
              </a:ext>
            </a:extLst>
          </p:cNvPr>
          <p:cNvSpPr txBox="1"/>
          <p:nvPr/>
        </p:nvSpPr>
        <p:spPr>
          <a:xfrm>
            <a:off x="674915" y="3908951"/>
            <a:ext cx="2357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Parts of the Tree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4D38D4-1DE1-B74A-B593-71DA13B6F492}"/>
              </a:ext>
            </a:extLst>
          </p:cNvPr>
          <p:cNvSpPr txBox="1"/>
          <p:nvPr/>
        </p:nvSpPr>
        <p:spPr>
          <a:xfrm>
            <a:off x="674915" y="4697187"/>
            <a:ext cx="2478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Defining Impurity</a:t>
            </a:r>
          </a:p>
        </p:txBody>
      </p:sp>
    </p:spTree>
    <p:extLst>
      <p:ext uri="{BB962C8B-B14F-4D97-AF65-F5344CB8AC3E}">
        <p14:creationId xmlns:p14="http://schemas.microsoft.com/office/powerpoint/2010/main" val="2088959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25AC8E0E-F9A1-4D3C-8AB5-4C215FD5C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1" name="Title 17">
            <a:extLst>
              <a:ext uri="{FF2B5EF4-FFF2-40B4-BE49-F238E27FC236}">
                <a16:creationId xmlns:a16="http://schemas.microsoft.com/office/drawing/2014/main" id="{BA21F84C-43BE-4690-BAC7-941B54E8E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" y="368421"/>
            <a:ext cx="6749218" cy="1193679"/>
          </a:xfrm>
        </p:spPr>
        <p:txBody>
          <a:bodyPr/>
          <a:lstStyle/>
          <a:p>
            <a:r>
              <a:rPr lang="en-IN" sz="4500" dirty="0"/>
              <a:t>Random Forest 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AE162681-7D97-49CD-9F31-A0E0CBA2221D}"/>
              </a:ext>
            </a:extLst>
          </p:cNvPr>
          <p:cNvSpPr txBox="1">
            <a:spLocks/>
          </p:cNvSpPr>
          <p:nvPr/>
        </p:nvSpPr>
        <p:spPr>
          <a:xfrm>
            <a:off x="0" y="-273104"/>
            <a:ext cx="850067" cy="6415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05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8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45975542-B030-4044-A598-848695E0FB2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27227" y="2189088"/>
            <a:ext cx="5411295" cy="36709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879D46-58B5-4AB3-95CC-D1F6C13513FA}"/>
              </a:ext>
            </a:extLst>
          </p:cNvPr>
          <p:cNvSpPr txBox="1"/>
          <p:nvPr/>
        </p:nvSpPr>
        <p:spPr>
          <a:xfrm>
            <a:off x="847725" y="3082466"/>
            <a:ext cx="3686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Random Forest?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684DA-520E-4FC9-AA75-0BDAD6F93F04}"/>
              </a:ext>
            </a:extLst>
          </p:cNvPr>
          <p:cNvSpPr txBox="1"/>
          <p:nvPr/>
        </p:nvSpPr>
        <p:spPr>
          <a:xfrm>
            <a:off x="847725" y="4157961"/>
            <a:ext cx="3167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</a:t>
            </a:r>
            <a:r>
              <a:rPr lang="en-US" sz="2000" dirty="0"/>
              <a:t> </a:t>
            </a:r>
            <a:r>
              <a:rPr lang="en-US" sz="2400" dirty="0"/>
              <a:t>did we use it? </a:t>
            </a:r>
            <a:r>
              <a:rPr lang="en-US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16998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736826-B544-4D92-AF09-FF57265BC5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01557" y="2426610"/>
            <a:ext cx="2378075" cy="1111250"/>
          </a:xfrm>
        </p:spPr>
        <p:txBody>
          <a:bodyPr/>
          <a:lstStyle/>
          <a:p>
            <a:r>
              <a:rPr lang="en-IN" dirty="0"/>
              <a:t>06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F372C5-9AE9-445E-97E4-EB3DB380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082" y="1543050"/>
            <a:ext cx="6674802" cy="2986088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444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25AC8E0E-F9A1-4D3C-8AB5-4C215FD5C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1" name="Title 17">
            <a:extLst>
              <a:ext uri="{FF2B5EF4-FFF2-40B4-BE49-F238E27FC236}">
                <a16:creationId xmlns:a16="http://schemas.microsoft.com/office/drawing/2014/main" id="{BA21F84C-43BE-4690-BAC7-941B54E8E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067" y="368421"/>
            <a:ext cx="9176802" cy="1340615"/>
          </a:xfrm>
        </p:spPr>
        <p:txBody>
          <a:bodyPr/>
          <a:lstStyle/>
          <a:p>
            <a:r>
              <a:rPr lang="en-IN" sz="4500" dirty="0"/>
              <a:t>Comparing the models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FF9E33-E9BF-4582-B757-DBA9FC4136EC}"/>
              </a:ext>
            </a:extLst>
          </p:cNvPr>
          <p:cNvSpPr txBox="1"/>
          <p:nvPr/>
        </p:nvSpPr>
        <p:spPr>
          <a:xfrm>
            <a:off x="0" y="0"/>
            <a:ext cx="885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06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D8C05A-EFB4-429B-B0E0-AF7DFBBD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95" t="30284" r="52500" b="14903"/>
          <a:stretch/>
        </p:blipFill>
        <p:spPr>
          <a:xfrm>
            <a:off x="8234354" y="1919734"/>
            <a:ext cx="3585029" cy="3757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F257EB-237F-4583-9467-9E5C3CB72E55}"/>
              </a:ext>
            </a:extLst>
          </p:cNvPr>
          <p:cNvSpPr txBox="1"/>
          <p:nvPr/>
        </p:nvSpPr>
        <p:spPr>
          <a:xfrm>
            <a:off x="275011" y="1944913"/>
            <a:ext cx="2844800" cy="18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Knn</a:t>
            </a: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AUC:0.624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Rmse score:0.575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prevalence:0.117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F9E89-EAE8-4A92-A2FE-92DB67101690}"/>
              </a:ext>
            </a:extLst>
          </p:cNvPr>
          <p:cNvSpPr txBox="1"/>
          <p:nvPr/>
        </p:nvSpPr>
        <p:spPr>
          <a:xfrm>
            <a:off x="3928602" y="1944913"/>
            <a:ext cx="3019732" cy="19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Logistic Regression</a:t>
            </a:r>
            <a:r>
              <a:rPr lang="en-US" altLang="en-US" u="sng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</a:p>
          <a:p>
            <a:pPr fontAlgn="base"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AUC:0.661</a:t>
            </a:r>
          </a:p>
          <a:p>
            <a:pPr fontAlgn="base"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 score:0.590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precision:0.183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 latinLnBrk="1"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prevalence:0.117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311E1F-3446-4AA5-A4CC-7A899CE0B549}"/>
              </a:ext>
            </a:extLst>
          </p:cNvPr>
          <p:cNvSpPr txBox="1"/>
          <p:nvPr/>
        </p:nvSpPr>
        <p:spPr>
          <a:xfrm>
            <a:off x="187545" y="4492169"/>
            <a:ext cx="3019732" cy="1679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Decision Tree</a:t>
            </a: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AUC:0.586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 score:0.554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prevalence:0.117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F5F05C-17EF-4E76-841B-8BE856A4F1D6}"/>
              </a:ext>
            </a:extLst>
          </p:cNvPr>
          <p:cNvSpPr txBox="1"/>
          <p:nvPr/>
        </p:nvSpPr>
        <p:spPr>
          <a:xfrm>
            <a:off x="3928602" y="4492169"/>
            <a:ext cx="3019732" cy="1679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Random Forest</a:t>
            </a: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AUC:0.657</a:t>
            </a: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 score:0.628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prevalence:0.117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190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19BF1C0-EE32-4EEE-9539-CE8473AA2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34" y="539225"/>
            <a:ext cx="3405004" cy="1232425"/>
          </a:xfrm>
        </p:spPr>
        <p:txBody>
          <a:bodyPr>
            <a:normAutofit/>
          </a:bodyPr>
          <a:lstStyle/>
          <a:p>
            <a:r>
              <a:rPr lang="en-US" sz="6000" dirty="0"/>
              <a:t>Analysis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AD175D2A-0058-45E0-AAF6-7260876F0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E8013-C9E2-488F-88F9-6A87B7DDDD70}"/>
              </a:ext>
            </a:extLst>
          </p:cNvPr>
          <p:cNvSpPr txBox="1"/>
          <p:nvPr/>
        </p:nvSpPr>
        <p:spPr>
          <a:xfrm>
            <a:off x="0" y="0"/>
            <a:ext cx="885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5B6A5E"/>
                </a:solidFill>
              </a:rPr>
              <a:t>07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B328D50-ED19-4749-BB96-8D7E43D46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785" y="2013407"/>
            <a:ext cx="4952842" cy="447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EFDC7542-7BB6-4993-BDC0-9DD420433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3" y="2013406"/>
            <a:ext cx="4952843" cy="447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34CC2084-FCB9-4F4B-8B47-44B2A81D523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0066" y="2350561"/>
            <a:ext cx="11079175" cy="1629096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C0C9C2">
                    <a:lumMod val="50000"/>
                  </a:srgbClr>
                </a:solidFill>
                <a:cs typeface="Biome Light" panose="020B0303030204020804" pitchFamily="34" charset="0"/>
              </a:rPr>
              <a:t>We referred to multiple Kaggle projects and for conceptual base we looked at StatQuest videos.  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25AC8E0E-F9A1-4D3C-8AB5-4C215FD5C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1" name="Title 17">
            <a:extLst>
              <a:ext uri="{FF2B5EF4-FFF2-40B4-BE49-F238E27FC236}">
                <a16:creationId xmlns:a16="http://schemas.microsoft.com/office/drawing/2014/main" id="{BA21F84C-43BE-4690-BAC7-941B54E8E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066" y="368421"/>
            <a:ext cx="6749218" cy="1340615"/>
          </a:xfrm>
        </p:spPr>
        <p:txBody>
          <a:bodyPr/>
          <a:lstStyle/>
          <a:p>
            <a:r>
              <a:rPr lang="en-US" sz="4500" dirty="0"/>
              <a:t>B</a:t>
            </a:r>
            <a:r>
              <a:rPr lang="en-IN" sz="4500" dirty="0"/>
              <a:t>ibliography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D9742-8F46-41E4-BAB9-849548587938}"/>
              </a:ext>
            </a:extLst>
          </p:cNvPr>
          <p:cNvSpPr txBox="1"/>
          <p:nvPr/>
        </p:nvSpPr>
        <p:spPr>
          <a:xfrm>
            <a:off x="0" y="0"/>
            <a:ext cx="885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45494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34CC2084-FCB9-4F4B-8B47-44B2A81D523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0066" y="2350561"/>
            <a:ext cx="6265109" cy="3450164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This project would not have been possible without the guidance of our IDS professor, Shubham Sir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We would like to thank NMIMS deemed to be university for providing us with </a:t>
            </a:r>
            <a:r>
              <a:rPr lang="en-US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this </a:t>
            </a:r>
            <a:r>
              <a:rPr lang="en-US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opportunity.</a:t>
            </a:r>
            <a:endParaRPr lang="en-IN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  <a:defRPr/>
            </a:pPr>
            <a:endParaRPr lang="en-US" sz="2000" dirty="0">
              <a:solidFill>
                <a:srgbClr val="C0C9C2">
                  <a:lumMod val="50000"/>
                </a:srgbClr>
              </a:solidFill>
              <a:cs typeface="Biome Light" panose="020B0303030204020804" pitchFamily="34" charset="0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25AC8E0E-F9A1-4D3C-8AB5-4C215FD5C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1" name="Title 17">
            <a:extLst>
              <a:ext uri="{FF2B5EF4-FFF2-40B4-BE49-F238E27FC236}">
                <a16:creationId xmlns:a16="http://schemas.microsoft.com/office/drawing/2014/main" id="{BA21F84C-43BE-4690-BAC7-941B54E8E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066" y="368421"/>
            <a:ext cx="6749218" cy="1340615"/>
          </a:xfrm>
        </p:spPr>
        <p:txBody>
          <a:bodyPr/>
          <a:lstStyle/>
          <a:p>
            <a:r>
              <a:rPr lang="en-US" sz="4500" dirty="0"/>
              <a:t>Acknowledgement</a:t>
            </a:r>
            <a:endParaRPr lang="en-IN" sz="4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1FC30A-7592-4CA7-A83D-CB400EEF4143}"/>
              </a:ext>
            </a:extLst>
          </p:cNvPr>
          <p:cNvSpPr txBox="1"/>
          <p:nvPr/>
        </p:nvSpPr>
        <p:spPr>
          <a:xfrm>
            <a:off x="0" y="0"/>
            <a:ext cx="885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5B6A5E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55685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9E24BCE-48CF-4EA0-8CEE-DABDE8C6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EBE147A-9B99-4FFD-BC53-05C5BD025E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8473" y="3073400"/>
            <a:ext cx="1866900" cy="711200"/>
          </a:xfrm>
        </p:spPr>
        <p:txBody>
          <a:bodyPr/>
          <a:lstStyle/>
          <a:p>
            <a:r>
              <a:rPr lang="en-US" dirty="0"/>
              <a:t>Chintan Mehta</a:t>
            </a:r>
          </a:p>
          <a:p>
            <a:r>
              <a:rPr lang="en-US" sz="1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400" dirty="0"/>
          </a:p>
          <a:p>
            <a:r>
              <a:rPr lang="en-US" sz="1400" dirty="0"/>
              <a:t>75252019016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28CF967-AF84-4550-882F-01B6C8B02C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26560" y="3073400"/>
            <a:ext cx="1866900" cy="711200"/>
          </a:xfrm>
        </p:spPr>
        <p:txBody>
          <a:bodyPr/>
          <a:lstStyle/>
          <a:p>
            <a:r>
              <a:rPr lang="en-US" dirty="0"/>
              <a:t>Gargi Rajadnya</a:t>
            </a:r>
          </a:p>
          <a:p>
            <a:r>
              <a:rPr lang="en-US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400" dirty="0"/>
          </a:p>
          <a:p>
            <a:r>
              <a:rPr lang="en-US" sz="1400" dirty="0"/>
              <a:t>75252019019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CA6C2C2-4BD8-4FEE-965C-BE8235FB38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8400" y="3073400"/>
            <a:ext cx="1993101" cy="711200"/>
          </a:xfrm>
        </p:spPr>
        <p:txBody>
          <a:bodyPr/>
          <a:lstStyle/>
          <a:p>
            <a:r>
              <a:rPr lang="en-US" dirty="0"/>
              <a:t>Maryam Ahmad</a:t>
            </a:r>
          </a:p>
          <a:p>
            <a:r>
              <a:rPr lang="en-US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400" dirty="0"/>
          </a:p>
          <a:p>
            <a:r>
              <a:rPr lang="en-US" sz="1400" dirty="0"/>
              <a:t>75252019003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F7E2B50-41CF-47DF-94E2-23B31B1BE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820150" y="3073400"/>
            <a:ext cx="1866900" cy="711200"/>
          </a:xfrm>
        </p:spPr>
        <p:txBody>
          <a:bodyPr/>
          <a:lstStyle/>
          <a:p>
            <a:r>
              <a:rPr lang="en-US" dirty="0"/>
              <a:t>Ved Barve</a:t>
            </a:r>
          </a:p>
          <a:p>
            <a:r>
              <a:rPr lang="en-US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400" dirty="0"/>
          </a:p>
          <a:p>
            <a:r>
              <a:rPr lang="en-US" sz="1400" dirty="0"/>
              <a:t>75252019005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BF214639-68C6-49E7-90D4-F4DAFEFBF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3B2E205C-B547-4F6B-AA29-0C7378010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546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25CB-5684-4E97-80FA-A48BC074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30" y="2314957"/>
            <a:ext cx="7336615" cy="2849562"/>
          </a:xfrm>
        </p:spPr>
        <p:txBody>
          <a:bodyPr/>
          <a:lstStyle/>
          <a:p>
            <a:r>
              <a:rPr lang="en-US" sz="72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accent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accent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solidFill>
                <a:schemeClr val="accent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F02AD77-17EE-49EB-8387-86DED6AD8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77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color presentation_Win32_LW_v2.potx" id="{B7F4C684-7BE5-4BD8-BEBE-7F207A45F474}" vid="{9091DE1E-F617-4C59-950B-F96736B889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976319-4513-485C-AD3A-E56C39927A3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3A10211-FBDE-44DA-8AD6-29E596B297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1B7BBB-8F46-4BA8-85EC-2ECC1D2E32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2918</TotalTime>
  <Words>617</Words>
  <Application>Microsoft Macintosh PowerPoint</Application>
  <PresentationFormat>Widescreen</PresentationFormat>
  <Paragraphs>196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Biome Light</vt:lpstr>
      <vt:lpstr>Calibri</vt:lpstr>
      <vt:lpstr>Courier New</vt:lpstr>
      <vt:lpstr>Office Theme</vt:lpstr>
      <vt:lpstr>Hospital Readmission</vt:lpstr>
      <vt:lpstr>Process</vt:lpstr>
      <vt:lpstr>Objectives</vt:lpstr>
      <vt:lpstr>Concepts and Domains used</vt:lpstr>
      <vt:lpstr>Factors</vt:lpstr>
      <vt:lpstr>Data Management</vt:lpstr>
      <vt:lpstr>Data Management</vt:lpstr>
      <vt:lpstr>Feature engineering </vt:lpstr>
      <vt:lpstr>PowerPoint Presentation</vt:lpstr>
      <vt:lpstr>PowerPoint Presentation</vt:lpstr>
      <vt:lpstr>Data Visualization</vt:lpstr>
      <vt:lpstr>PowerPoint Presentation</vt:lpstr>
      <vt:lpstr>PowerPoint Presentation</vt:lpstr>
      <vt:lpstr>PowerPoint Presentation</vt:lpstr>
      <vt:lpstr>Predictive Modeling</vt:lpstr>
      <vt:lpstr>Logistic Regression</vt:lpstr>
      <vt:lpstr>KNN</vt:lpstr>
      <vt:lpstr>Decision tree</vt:lpstr>
      <vt:lpstr>Random Forest </vt:lpstr>
      <vt:lpstr>Conclusion</vt:lpstr>
      <vt:lpstr>Comparing the models </vt:lpstr>
      <vt:lpstr>Analysis</vt:lpstr>
      <vt:lpstr>Bibliography</vt:lpstr>
      <vt:lpstr>Acknowledgement</vt:lpstr>
      <vt:lpstr>Team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review</dc:title>
  <dc:creator>Gargi Rajadnya</dc:creator>
  <cp:lastModifiedBy>Maryam ahmad</cp:lastModifiedBy>
  <cp:revision>227</cp:revision>
  <dcterms:created xsi:type="dcterms:W3CDTF">2021-01-24T15:36:47Z</dcterms:created>
  <dcterms:modified xsi:type="dcterms:W3CDTF">2026-03-31T08:13:05Z</dcterms:modified>
</cp:coreProperties>
</file>